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3" r:id="rId2"/>
    <p:sldId id="264" r:id="rId3"/>
    <p:sldId id="265" r:id="rId4"/>
    <p:sldId id="266" r:id="rId5"/>
    <p:sldId id="267" r:id="rId6"/>
    <p:sldId id="268" r:id="rId7"/>
    <p:sldId id="269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7"/>
    <p:restoredTop sz="94673"/>
  </p:normalViewPr>
  <p:slideViewPr>
    <p:cSldViewPr snapToGrid="0" snapToObjects="1">
      <p:cViewPr varScale="1">
        <p:scale>
          <a:sx n="89" d="100"/>
          <a:sy n="89" d="100"/>
        </p:scale>
        <p:origin x="176" y="6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4BD522D-D242-2A49-9CE7-F47764575D9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2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AB347FF-09D9-F04B-9BD2-B340D1FAF50D}"/>
              </a:ext>
            </a:extLst>
          </p:cNvPr>
          <p:cNvSpPr/>
          <p:nvPr/>
        </p:nvSpPr>
        <p:spPr>
          <a:xfrm>
            <a:off x="7874000" y="-1270000"/>
            <a:ext cx="5588000" cy="5588000"/>
          </a:xfrm>
          <a:prstGeom prst="ellipse">
            <a:avLst/>
          </a:prstGeom>
          <a:solidFill>
            <a:srgbClr val="0F153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332458-2A37-AB43-9DD2-074074E9C768}"/>
              </a:ext>
            </a:extLst>
          </p:cNvPr>
          <p:cNvSpPr/>
          <p:nvPr/>
        </p:nvSpPr>
        <p:spPr>
          <a:xfrm>
            <a:off x="825500" y="1587500"/>
            <a:ext cx="698500" cy="50800"/>
          </a:xfrm>
          <a:prstGeom prst="rect">
            <a:avLst/>
          </a:prstGeom>
          <a:solidFill>
            <a:srgbClr val="3B82F6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E86CD1-9053-6242-87F3-B65D6350AEA5}"/>
              </a:ext>
            </a:extLst>
          </p:cNvPr>
          <p:cNvSpPr txBox="1"/>
          <p:nvPr/>
        </p:nvSpPr>
        <p:spPr>
          <a:xfrm>
            <a:off x="825500" y="1841500"/>
            <a:ext cx="8890000" cy="190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800" b="1">
                <a:solidFill>
                  <a:srgbClr val="FFFFFF"/>
                </a:solidFill>
                <a:latin typeface="DM Sans"/>
                <a:cs typeface="DM Sans"/>
              </a:rPr>
              <a:t>Are We Lending to
the Right Borrowers?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7D1D89-3099-5947-9864-ADDA01B7C4D5}"/>
              </a:ext>
            </a:extLst>
          </p:cNvPr>
          <p:cNvSpPr txBox="1"/>
          <p:nvPr/>
        </p:nvSpPr>
        <p:spPr>
          <a:xfrm>
            <a:off x="825500" y="3937000"/>
            <a:ext cx="8890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94A3B8"/>
                </a:solidFill>
                <a:latin typeface="DM Sans"/>
                <a:cs typeface="DM Sans"/>
              </a:rPr>
              <a:t>Consumer Credit Policy Analysis  ·  Lending Club 2007–2020 Q3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6EE5D1-7314-484A-9D80-2937F985C246}"/>
              </a:ext>
            </a:extLst>
          </p:cNvPr>
          <p:cNvSpPr txBox="1"/>
          <p:nvPr/>
        </p:nvSpPr>
        <p:spPr>
          <a:xfrm>
            <a:off x="825500" y="4508500"/>
            <a:ext cx="508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B82F6"/>
                </a:solidFill>
                <a:latin typeface="DM Sans"/>
                <a:cs typeface="DM Sans"/>
              </a:rPr>
              <a:t>ClarityPay Take-Home Exercise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2A9F816-70DE-8E4F-92C8-2339AE9800FF}"/>
              </a:ext>
            </a:extLst>
          </p:cNvPr>
          <p:cNvSpPr/>
          <p:nvPr/>
        </p:nvSpPr>
        <p:spPr>
          <a:xfrm>
            <a:off x="825500" y="5334000"/>
            <a:ext cx="4889500" cy="558800"/>
          </a:xfrm>
          <a:prstGeom prst="roundRect">
            <a:avLst/>
          </a:prstGeom>
          <a:solidFill>
            <a:srgbClr val="151B3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C85C47-6ABB-0A4C-87CE-A4CF14132351}"/>
              </a:ext>
            </a:extLst>
          </p:cNvPr>
          <p:cNvSpPr txBox="1"/>
          <p:nvPr/>
        </p:nvSpPr>
        <p:spPr>
          <a:xfrm>
            <a:off x="1016000" y="5334000"/>
            <a:ext cx="45085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CBD5E1"/>
                </a:solidFill>
                <a:latin typeface="DM Sans"/>
                <a:cs typeface="DM Sans"/>
              </a:rPr>
              <a:t>1,860,331 completed loans  |  2007–2020 Q3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1B8659C-83FF-474C-A362-EDD77D9C25F7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3B82F6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2432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BC765A4-15A8-224D-A1DA-01FAF141D66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2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38A5FCC-485F-C64C-A074-D05196ADC773}"/>
              </a:ext>
            </a:extLst>
          </p:cNvPr>
          <p:cNvSpPr/>
          <p:nvPr/>
        </p:nvSpPr>
        <p:spPr>
          <a:xfrm>
            <a:off x="0" y="0"/>
            <a:ext cx="12192000" cy="889000"/>
          </a:xfrm>
          <a:prstGeom prst="rect">
            <a:avLst/>
          </a:prstGeom>
          <a:solidFill>
            <a:srgbClr val="0F153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287CC5-08B3-A444-A139-2E1DA56A79B3}"/>
              </a:ext>
            </a:extLst>
          </p:cNvPr>
          <p:cNvSpPr txBox="1"/>
          <p:nvPr/>
        </p:nvSpPr>
        <p:spPr>
          <a:xfrm>
            <a:off x="508000" y="0"/>
            <a:ext cx="11176000" cy="889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DM Sans"/>
              </a:rPr>
              <a:t>1 in 5 Lending Club Loans Were Never Repaid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6BB78F9-096E-9E46-AFA7-F9A172FE13AF}"/>
              </a:ext>
            </a:extLst>
          </p:cNvPr>
          <p:cNvSpPr/>
          <p:nvPr/>
        </p:nvSpPr>
        <p:spPr>
          <a:xfrm>
            <a:off x="635000" y="1524000"/>
            <a:ext cx="4445000" cy="2286000"/>
          </a:xfrm>
          <a:prstGeom prst="roundRect">
            <a:avLst/>
          </a:prstGeom>
          <a:solidFill>
            <a:srgbClr val="151B3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B9A337-8D53-8B4A-9742-13451D37E2CC}"/>
              </a:ext>
            </a:extLst>
          </p:cNvPr>
          <p:cNvSpPr txBox="1"/>
          <p:nvPr/>
        </p:nvSpPr>
        <p:spPr>
          <a:xfrm>
            <a:off x="762000" y="1651000"/>
            <a:ext cx="4191000" cy="1143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6000" b="1">
                <a:solidFill>
                  <a:srgbClr val="3B82F6"/>
                </a:solidFill>
                <a:latin typeface="DM Sans"/>
              </a:rPr>
              <a:t>19.5%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C3F29A-7C4C-7842-ADC3-1119FA2CE23D}"/>
              </a:ext>
            </a:extLst>
          </p:cNvPr>
          <p:cNvSpPr txBox="1"/>
          <p:nvPr/>
        </p:nvSpPr>
        <p:spPr>
          <a:xfrm>
            <a:off x="762000" y="2857500"/>
            <a:ext cx="4191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94A3B8"/>
                </a:solidFill>
                <a:latin typeface="DM Sans"/>
              </a:rPr>
              <a:t>charge-off (default) rate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2EA340-052B-9744-8AF4-AA609679FAD1}"/>
              </a:ext>
            </a:extLst>
          </p:cNvPr>
          <p:cNvSpPr/>
          <p:nvPr/>
        </p:nvSpPr>
        <p:spPr>
          <a:xfrm>
            <a:off x="2032000" y="3429000"/>
            <a:ext cx="1651000" cy="38100"/>
          </a:xfrm>
          <a:prstGeom prst="rect">
            <a:avLst/>
          </a:prstGeom>
          <a:solidFill>
            <a:srgbClr val="3B82F6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D7F6446-EBBD-D343-87BD-31C595FEAD73}"/>
              </a:ext>
            </a:extLst>
          </p:cNvPr>
          <p:cNvSpPr/>
          <p:nvPr/>
        </p:nvSpPr>
        <p:spPr>
          <a:xfrm>
            <a:off x="5588000" y="1270000"/>
            <a:ext cx="6096000" cy="4318000"/>
          </a:xfrm>
          <a:prstGeom prst="roundRect">
            <a:avLst/>
          </a:prstGeom>
          <a:solidFill>
            <a:srgbClr val="151B3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A5BDC6-1D33-3F45-8C6E-6230F1D06DA2}"/>
              </a:ext>
            </a:extLst>
          </p:cNvPr>
          <p:cNvSpPr txBox="1"/>
          <p:nvPr/>
        </p:nvSpPr>
        <p:spPr>
          <a:xfrm>
            <a:off x="5905500" y="1524000"/>
            <a:ext cx="5524500" cy="393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E2E8F0"/>
                </a:solidFill>
                <a:latin typeface="DM Sans"/>
              </a:rPr>
              <a:t>▸  362,548 loans written off as uncollectible
▸  Each charge-off = 100% loss of outstanding principal
▸  Industry average for consumer installment: 2–5%
▸  LC's platform attracted near-prime / subprime borrowers
▸  Goal: identify high-risk borrowers before we lend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30995F1-1ED3-F54B-8FA6-4D72C97D7A2D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3B82F6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5978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41207E-ACD7-2B4B-84C4-C510F097459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2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F3F114E-DBE2-7441-8D37-BF20C43EB979}"/>
              </a:ext>
            </a:extLst>
          </p:cNvPr>
          <p:cNvSpPr/>
          <p:nvPr/>
        </p:nvSpPr>
        <p:spPr>
          <a:xfrm>
            <a:off x="0" y="0"/>
            <a:ext cx="12192000" cy="889000"/>
          </a:xfrm>
          <a:prstGeom prst="rect">
            <a:avLst/>
          </a:prstGeom>
          <a:solidFill>
            <a:srgbClr val="0F153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26AA35-B5CF-BF4F-A697-AEBF48DAC00D}"/>
              </a:ext>
            </a:extLst>
          </p:cNvPr>
          <p:cNvSpPr txBox="1"/>
          <p:nvPr/>
        </p:nvSpPr>
        <p:spPr>
          <a:xfrm>
            <a:off x="508000" y="63500"/>
            <a:ext cx="11176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DM Sans"/>
              </a:rPr>
              <a:t>1.86 Million Completed Loans Analyzed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AA2B64-6403-704B-90B3-DD34084FFD96}"/>
              </a:ext>
            </a:extLst>
          </p:cNvPr>
          <p:cNvSpPr txBox="1"/>
          <p:nvPr/>
        </p:nvSpPr>
        <p:spPr>
          <a:xfrm>
            <a:off x="508000" y="508000"/>
            <a:ext cx="1117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94A3B8"/>
                </a:solidFill>
                <a:latin typeface="DM Sans"/>
              </a:rPr>
              <a:t>Scope: Fully Paid or Charged Off only  ·  Origination-time features only  ·  No post-loan data leakage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1DF71AC-4FD3-A444-BB40-EEFA4EF98155}"/>
              </a:ext>
            </a:extLst>
          </p:cNvPr>
          <p:cNvSpPr/>
          <p:nvPr/>
        </p:nvSpPr>
        <p:spPr>
          <a:xfrm>
            <a:off x="635000" y="1206500"/>
            <a:ext cx="2667000" cy="1651000"/>
          </a:xfrm>
          <a:prstGeom prst="roundRect">
            <a:avLst/>
          </a:prstGeom>
          <a:solidFill>
            <a:srgbClr val="151B3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F57F26-1810-2948-8CD9-8A31FCAE1145}"/>
              </a:ext>
            </a:extLst>
          </p:cNvPr>
          <p:cNvSpPr txBox="1"/>
          <p:nvPr/>
        </p:nvSpPr>
        <p:spPr>
          <a:xfrm>
            <a:off x="825500" y="1358900"/>
            <a:ext cx="228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94A3B8"/>
                </a:solidFill>
                <a:latin typeface="DM Sans"/>
              </a:rPr>
              <a:t>Total Loans Analyzed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451093-4BEF-C242-B1AD-3372BD9E79DA}"/>
              </a:ext>
            </a:extLst>
          </p:cNvPr>
          <p:cNvSpPr txBox="1"/>
          <p:nvPr/>
        </p:nvSpPr>
        <p:spPr>
          <a:xfrm>
            <a:off x="825500" y="1778000"/>
            <a:ext cx="2286000" cy="889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3B82F6"/>
                </a:solidFill>
                <a:latin typeface="DM Sans"/>
              </a:rPr>
              <a:t>1,860,331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9C7E175-E5C7-B947-93F3-D1E1EFB5B7E5}"/>
              </a:ext>
            </a:extLst>
          </p:cNvPr>
          <p:cNvSpPr/>
          <p:nvPr/>
        </p:nvSpPr>
        <p:spPr>
          <a:xfrm>
            <a:off x="3556000" y="1206500"/>
            <a:ext cx="2667000" cy="1651000"/>
          </a:xfrm>
          <a:prstGeom prst="roundRect">
            <a:avLst/>
          </a:prstGeom>
          <a:solidFill>
            <a:srgbClr val="151B3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939874-BA25-0445-B3B0-AB285D3396D9}"/>
              </a:ext>
            </a:extLst>
          </p:cNvPr>
          <p:cNvSpPr txBox="1"/>
          <p:nvPr/>
        </p:nvSpPr>
        <p:spPr>
          <a:xfrm>
            <a:off x="3746500" y="1358900"/>
            <a:ext cx="228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94A3B8"/>
                </a:solidFill>
                <a:latin typeface="DM Sans"/>
              </a:rPr>
              <a:t>Fully Paid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43D7B6-8C4E-6643-A103-3A0EC71D4C3C}"/>
              </a:ext>
            </a:extLst>
          </p:cNvPr>
          <p:cNvSpPr txBox="1"/>
          <p:nvPr/>
        </p:nvSpPr>
        <p:spPr>
          <a:xfrm>
            <a:off x="3746500" y="1778000"/>
            <a:ext cx="2286000" cy="889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34D399"/>
                </a:solidFill>
                <a:latin typeface="DM Sans"/>
              </a:rPr>
              <a:t>1,497,783  (80.5%)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ED410EB-721A-6149-ADC1-7A74384655E5}"/>
              </a:ext>
            </a:extLst>
          </p:cNvPr>
          <p:cNvSpPr/>
          <p:nvPr/>
        </p:nvSpPr>
        <p:spPr>
          <a:xfrm>
            <a:off x="6477000" y="1206500"/>
            <a:ext cx="2667000" cy="1651000"/>
          </a:xfrm>
          <a:prstGeom prst="roundRect">
            <a:avLst/>
          </a:prstGeom>
          <a:solidFill>
            <a:srgbClr val="151B3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A897FB-55D7-7746-948B-92C5E4E5E01F}"/>
              </a:ext>
            </a:extLst>
          </p:cNvPr>
          <p:cNvSpPr txBox="1"/>
          <p:nvPr/>
        </p:nvSpPr>
        <p:spPr>
          <a:xfrm>
            <a:off x="6667500" y="1358900"/>
            <a:ext cx="228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94A3B8"/>
                </a:solidFill>
                <a:latin typeface="DM Sans"/>
              </a:rPr>
              <a:t>Charged Off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3B39E5-578B-E64C-8B74-C8CB8102F69E}"/>
              </a:ext>
            </a:extLst>
          </p:cNvPr>
          <p:cNvSpPr txBox="1"/>
          <p:nvPr/>
        </p:nvSpPr>
        <p:spPr>
          <a:xfrm>
            <a:off x="6667500" y="1778000"/>
            <a:ext cx="2286000" cy="889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F87171"/>
                </a:solidFill>
                <a:latin typeface="DM Sans"/>
              </a:rPr>
              <a:t>362,548  (19.5%)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EBC1FE9-ADFD-E64E-9022-36E954E0BA7E}"/>
              </a:ext>
            </a:extLst>
          </p:cNvPr>
          <p:cNvSpPr/>
          <p:nvPr/>
        </p:nvSpPr>
        <p:spPr>
          <a:xfrm>
            <a:off x="9398000" y="1206500"/>
            <a:ext cx="2667000" cy="1651000"/>
          </a:xfrm>
          <a:prstGeom prst="roundRect">
            <a:avLst/>
          </a:prstGeom>
          <a:solidFill>
            <a:srgbClr val="151B3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DF81AF-7418-2F4D-AAD0-C7DA6BCF2D6E}"/>
              </a:ext>
            </a:extLst>
          </p:cNvPr>
          <p:cNvSpPr txBox="1"/>
          <p:nvPr/>
        </p:nvSpPr>
        <p:spPr>
          <a:xfrm>
            <a:off x="9588500" y="1358900"/>
            <a:ext cx="228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94A3B8"/>
                </a:solidFill>
                <a:latin typeface="DM Sans"/>
              </a:rPr>
              <a:t>Date Range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D3BE87-E2A2-554D-935F-3FA0B1A4F7A6}"/>
              </a:ext>
            </a:extLst>
          </p:cNvPr>
          <p:cNvSpPr txBox="1"/>
          <p:nvPr/>
        </p:nvSpPr>
        <p:spPr>
          <a:xfrm>
            <a:off x="9588500" y="1778000"/>
            <a:ext cx="2286000" cy="889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60A5FA"/>
                </a:solidFill>
                <a:latin typeface="DM Sans"/>
              </a:rPr>
              <a:t>Jan 2007
– Sep 2020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1E650115-0543-F64B-9C57-152B4BF29890}"/>
              </a:ext>
            </a:extLst>
          </p:cNvPr>
          <p:cNvSpPr/>
          <p:nvPr/>
        </p:nvSpPr>
        <p:spPr>
          <a:xfrm>
            <a:off x="635000" y="4826000"/>
            <a:ext cx="10922000" cy="1016000"/>
          </a:xfrm>
          <a:prstGeom prst="roundRect">
            <a:avLst/>
          </a:prstGeom>
          <a:solidFill>
            <a:srgbClr val="151B3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FAF971D-0F45-F744-83E5-D0CFD56464EB}"/>
              </a:ext>
            </a:extLst>
          </p:cNvPr>
          <p:cNvSpPr/>
          <p:nvPr/>
        </p:nvSpPr>
        <p:spPr>
          <a:xfrm>
            <a:off x="635000" y="4826000"/>
            <a:ext cx="50800" cy="1016000"/>
          </a:xfrm>
          <a:prstGeom prst="rect">
            <a:avLst/>
          </a:prstGeom>
          <a:solidFill>
            <a:srgbClr val="3B82F6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696B3CF-B381-D344-8488-0518480F7D27}"/>
              </a:ext>
            </a:extLst>
          </p:cNvPr>
          <p:cNvSpPr txBox="1"/>
          <p:nvPr/>
        </p:nvSpPr>
        <p:spPr>
          <a:xfrm>
            <a:off x="889000" y="4927600"/>
            <a:ext cx="10477500" cy="825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94A3B8"/>
                </a:solidFill>
                <a:latin typeface="DM Sans"/>
              </a:rPr>
              <a:t>Methodology: Only loans with a known outcome are included. In-progress loans (Current, Late, Grace Period) are excluded. All features used are observable at origination — no post-loan data.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465F259-ECC3-9949-8114-6C1F1578B3F0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3B82F6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2919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1ECCB36-CA26-6B43-A6D7-240665D1602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2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0DEDC97-9D21-804F-9751-2D928EF87CCA}"/>
              </a:ext>
            </a:extLst>
          </p:cNvPr>
          <p:cNvSpPr/>
          <p:nvPr/>
        </p:nvSpPr>
        <p:spPr>
          <a:xfrm>
            <a:off x="0" y="0"/>
            <a:ext cx="12192000" cy="889000"/>
          </a:xfrm>
          <a:prstGeom prst="rect">
            <a:avLst/>
          </a:prstGeom>
          <a:solidFill>
            <a:srgbClr val="0F153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892374-7FF3-4F46-A5D0-84248BFD6087}"/>
              </a:ext>
            </a:extLst>
          </p:cNvPr>
          <p:cNvSpPr txBox="1"/>
          <p:nvPr/>
        </p:nvSpPr>
        <p:spPr>
          <a:xfrm>
            <a:off x="508000" y="0"/>
            <a:ext cx="11176000" cy="889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DM Sans"/>
              </a:rPr>
              <a:t>Four Attributes Predict Default Before the Loan Is Made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D1B9A9D-F890-D742-AEAE-45C37A3AECA2}"/>
              </a:ext>
            </a:extLst>
          </p:cNvPr>
          <p:cNvSpPr/>
          <p:nvPr/>
        </p:nvSpPr>
        <p:spPr>
          <a:xfrm>
            <a:off x="508000" y="1143000"/>
            <a:ext cx="5461000" cy="2413000"/>
          </a:xfrm>
          <a:prstGeom prst="roundRect">
            <a:avLst/>
          </a:prstGeom>
          <a:solidFill>
            <a:srgbClr val="151B3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8B54C6-4D95-B54E-B9E1-026D7BA9615A}"/>
              </a:ext>
            </a:extLst>
          </p:cNvPr>
          <p:cNvSpPr/>
          <p:nvPr/>
        </p:nvSpPr>
        <p:spPr>
          <a:xfrm>
            <a:off x="508000" y="1143000"/>
            <a:ext cx="5461000" cy="38100"/>
          </a:xfrm>
          <a:prstGeom prst="rect">
            <a:avLst/>
          </a:prstGeom>
          <a:solidFill>
            <a:srgbClr val="3B82F6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D9629ED-9077-734C-AF66-475B78508A6D}"/>
              </a:ext>
            </a:extLst>
          </p:cNvPr>
          <p:cNvSpPr/>
          <p:nvPr/>
        </p:nvSpPr>
        <p:spPr>
          <a:xfrm>
            <a:off x="762000" y="1397000"/>
            <a:ext cx="508000" cy="508000"/>
          </a:xfrm>
          <a:prstGeom prst="ellipse">
            <a:avLst/>
          </a:prstGeom>
          <a:solidFill>
            <a:srgbClr val="3B82F6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DM Sans"/>
              </a:rPr>
              <a:t>01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D09BAE-B76B-7A42-A78F-ED80A935B7AA}"/>
              </a:ext>
            </a:extLst>
          </p:cNvPr>
          <p:cNvSpPr txBox="1"/>
          <p:nvPr/>
        </p:nvSpPr>
        <p:spPr>
          <a:xfrm>
            <a:off x="1460500" y="1422400"/>
            <a:ext cx="4318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DM Sans"/>
              </a:rPr>
              <a:t>FICO Score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F6EACB-5CAE-F043-A4C1-5586888A6692}"/>
              </a:ext>
            </a:extLst>
          </p:cNvPr>
          <p:cNvSpPr txBox="1"/>
          <p:nvPr/>
        </p:nvSpPr>
        <p:spPr>
          <a:xfrm>
            <a:off x="762000" y="2095500"/>
            <a:ext cx="49530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94A3B8"/>
                </a:solidFill>
                <a:latin typeface="DM Sans"/>
              </a:rPr>
              <a:t>Borrowers with FICO &lt; 680 show 2× the baseline default rate. The single strongest predictor of charge-off risk.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7FC8013-D332-124D-AC0F-5543F5F3339E}"/>
              </a:ext>
            </a:extLst>
          </p:cNvPr>
          <p:cNvSpPr/>
          <p:nvPr/>
        </p:nvSpPr>
        <p:spPr>
          <a:xfrm>
            <a:off x="6223000" y="1143000"/>
            <a:ext cx="5461000" cy="2413000"/>
          </a:xfrm>
          <a:prstGeom prst="roundRect">
            <a:avLst/>
          </a:prstGeom>
          <a:solidFill>
            <a:srgbClr val="151B3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D6CEC9D-6132-A848-A55C-BF977130044E}"/>
              </a:ext>
            </a:extLst>
          </p:cNvPr>
          <p:cNvSpPr/>
          <p:nvPr/>
        </p:nvSpPr>
        <p:spPr>
          <a:xfrm>
            <a:off x="6223000" y="1143000"/>
            <a:ext cx="5461000" cy="38100"/>
          </a:xfrm>
          <a:prstGeom prst="rect">
            <a:avLst/>
          </a:prstGeom>
          <a:solidFill>
            <a:srgbClr val="60A5F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02CCEBA-27C4-6441-8A68-8270EA2EA592}"/>
              </a:ext>
            </a:extLst>
          </p:cNvPr>
          <p:cNvSpPr/>
          <p:nvPr/>
        </p:nvSpPr>
        <p:spPr>
          <a:xfrm>
            <a:off x="6477000" y="1397000"/>
            <a:ext cx="508000" cy="508000"/>
          </a:xfrm>
          <a:prstGeom prst="ellipse">
            <a:avLst/>
          </a:prstGeom>
          <a:solidFill>
            <a:srgbClr val="60A5F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DM Sans"/>
              </a:rPr>
              <a:t>02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546692-9C5D-FF43-9B1F-B55BF820B843}"/>
              </a:ext>
            </a:extLst>
          </p:cNvPr>
          <p:cNvSpPr txBox="1"/>
          <p:nvPr/>
        </p:nvSpPr>
        <p:spPr>
          <a:xfrm>
            <a:off x="7175500" y="1422400"/>
            <a:ext cx="4318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DM Sans"/>
              </a:rPr>
              <a:t>Loan Grade (E/F/G)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0A293FC-D852-B942-8A97-2D4FFFE988F8}"/>
              </a:ext>
            </a:extLst>
          </p:cNvPr>
          <p:cNvSpPr txBox="1"/>
          <p:nvPr/>
        </p:nvSpPr>
        <p:spPr>
          <a:xfrm>
            <a:off x="6477000" y="2095500"/>
            <a:ext cx="49530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94A3B8"/>
                </a:solidFill>
                <a:latin typeface="DM Sans"/>
              </a:rPr>
              <a:t>Lending Club's own risk grades capture underwriting signals. Grades E–G carry significantly elevated default rates.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0A1880C-D8B5-4C4B-954C-CFE821EEB5F3}"/>
              </a:ext>
            </a:extLst>
          </p:cNvPr>
          <p:cNvSpPr/>
          <p:nvPr/>
        </p:nvSpPr>
        <p:spPr>
          <a:xfrm>
            <a:off x="508000" y="3810000"/>
            <a:ext cx="5461000" cy="2413000"/>
          </a:xfrm>
          <a:prstGeom prst="roundRect">
            <a:avLst/>
          </a:prstGeom>
          <a:solidFill>
            <a:srgbClr val="151B3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F1F270D-8D9A-2546-931C-8914CCA5DA2C}"/>
              </a:ext>
            </a:extLst>
          </p:cNvPr>
          <p:cNvSpPr/>
          <p:nvPr/>
        </p:nvSpPr>
        <p:spPr>
          <a:xfrm>
            <a:off x="508000" y="3810000"/>
            <a:ext cx="5461000" cy="38100"/>
          </a:xfrm>
          <a:prstGeom prst="rect">
            <a:avLst/>
          </a:prstGeom>
          <a:solidFill>
            <a:srgbClr val="38BDF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6B3E966-EB0B-1845-8381-812AD0CA5120}"/>
              </a:ext>
            </a:extLst>
          </p:cNvPr>
          <p:cNvSpPr/>
          <p:nvPr/>
        </p:nvSpPr>
        <p:spPr>
          <a:xfrm>
            <a:off x="762000" y="4064000"/>
            <a:ext cx="508000" cy="508000"/>
          </a:xfrm>
          <a:prstGeom prst="ellipse">
            <a:avLst/>
          </a:prstGeom>
          <a:solidFill>
            <a:srgbClr val="38BDF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DM Sans"/>
              </a:rPr>
              <a:t>03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B50AAB9-2F31-974F-8D82-0D2E8E5B9958}"/>
              </a:ext>
            </a:extLst>
          </p:cNvPr>
          <p:cNvSpPr txBox="1"/>
          <p:nvPr/>
        </p:nvSpPr>
        <p:spPr>
          <a:xfrm>
            <a:off x="1460500" y="4089400"/>
            <a:ext cx="4318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DM Sans"/>
              </a:rPr>
              <a:t>Revolving Utilization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C2A8906-F6B2-7F41-B017-59D9C846DFE2}"/>
              </a:ext>
            </a:extLst>
          </p:cNvPr>
          <p:cNvSpPr txBox="1"/>
          <p:nvPr/>
        </p:nvSpPr>
        <p:spPr>
          <a:xfrm>
            <a:off x="762000" y="4762500"/>
            <a:ext cx="49530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94A3B8"/>
                </a:solidFill>
                <a:latin typeface="DM Sans"/>
              </a:rPr>
              <a:t>Utilization &gt; 80% signals financial stress independent of credit score. A behavioral indicator of overextension.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C26AE3B7-080B-5449-8395-5E0A736B2AD4}"/>
              </a:ext>
            </a:extLst>
          </p:cNvPr>
          <p:cNvSpPr/>
          <p:nvPr/>
        </p:nvSpPr>
        <p:spPr>
          <a:xfrm>
            <a:off x="6223000" y="3810000"/>
            <a:ext cx="5461000" cy="2413000"/>
          </a:xfrm>
          <a:prstGeom prst="roundRect">
            <a:avLst/>
          </a:prstGeom>
          <a:solidFill>
            <a:srgbClr val="151B3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0FF87D0-89B4-6645-A063-588F07DC26B8}"/>
              </a:ext>
            </a:extLst>
          </p:cNvPr>
          <p:cNvSpPr/>
          <p:nvPr/>
        </p:nvSpPr>
        <p:spPr>
          <a:xfrm>
            <a:off x="6223000" y="3810000"/>
            <a:ext cx="5461000" cy="38100"/>
          </a:xfrm>
          <a:prstGeom prst="rect">
            <a:avLst/>
          </a:prstGeom>
          <a:solidFill>
            <a:srgbClr val="34D399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67BF98AE-F234-844C-A0FC-746127712B50}"/>
              </a:ext>
            </a:extLst>
          </p:cNvPr>
          <p:cNvSpPr/>
          <p:nvPr/>
        </p:nvSpPr>
        <p:spPr>
          <a:xfrm>
            <a:off x="6477000" y="4064000"/>
            <a:ext cx="508000" cy="508000"/>
          </a:xfrm>
          <a:prstGeom prst="ellipse">
            <a:avLst/>
          </a:prstGeom>
          <a:solidFill>
            <a:srgbClr val="34D399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DM Sans"/>
              </a:rPr>
              <a:t>04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BFEBAFC-A3A9-8D41-A0B2-E78457CD9CAB}"/>
              </a:ext>
            </a:extLst>
          </p:cNvPr>
          <p:cNvSpPr txBox="1"/>
          <p:nvPr/>
        </p:nvSpPr>
        <p:spPr>
          <a:xfrm>
            <a:off x="7175500" y="4089400"/>
            <a:ext cx="4318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DM Sans"/>
              </a:rPr>
              <a:t>Bankruptcy History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BFDBA2-9387-7F4C-88EB-863607381B98}"/>
              </a:ext>
            </a:extLst>
          </p:cNvPr>
          <p:cNvSpPr txBox="1"/>
          <p:nvPr/>
        </p:nvSpPr>
        <p:spPr>
          <a:xfrm>
            <a:off x="6477000" y="4762500"/>
            <a:ext cx="49530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94A3B8"/>
                </a:solidFill>
                <a:latin typeface="DM Sans"/>
              </a:rPr>
              <a:t>Any prior bankruptcy on record is a categorical risk signal. Binary flag with clear separation in outcomes.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D22163C-7729-6346-A718-DE5621414CED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3B82F6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74247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30E074B-D14A-9D4C-B49D-1DFCF6E7B1F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2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A2FD8A4-4874-9F4A-ADEE-E32B497DB70A}"/>
              </a:ext>
            </a:extLst>
          </p:cNvPr>
          <p:cNvSpPr/>
          <p:nvPr/>
        </p:nvSpPr>
        <p:spPr>
          <a:xfrm>
            <a:off x="0" y="0"/>
            <a:ext cx="12192000" cy="889000"/>
          </a:xfrm>
          <a:prstGeom prst="rect">
            <a:avLst/>
          </a:prstGeom>
          <a:solidFill>
            <a:srgbClr val="0F153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A225EC-A8A3-3141-A0AB-90DA352FA5DA}"/>
              </a:ext>
            </a:extLst>
          </p:cNvPr>
          <p:cNvSpPr txBox="1"/>
          <p:nvPr/>
        </p:nvSpPr>
        <p:spPr>
          <a:xfrm>
            <a:off x="508000" y="63500"/>
            <a:ext cx="11176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DM Sans"/>
              </a:rPr>
              <a:t>Six Evidence-Based Decline Rules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08372D-5D15-3F42-BE29-4509DBC33D19}"/>
              </a:ext>
            </a:extLst>
          </p:cNvPr>
          <p:cNvSpPr txBox="1"/>
          <p:nvPr/>
        </p:nvSpPr>
        <p:spPr>
          <a:xfrm>
            <a:off x="508000" y="508000"/>
            <a:ext cx="1117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94A3B8"/>
                </a:solidFill>
                <a:latin typeface="DM Sans"/>
              </a:rPr>
              <a:t>Baseline bad rate: 19.5%  ·  All rules use only origination-time data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0827EAE-1AD8-DA40-AE3A-3144EC30F0A5}"/>
              </a:ext>
            </a:extLst>
          </p:cNvPr>
          <p:cNvSpPr/>
          <p:nvPr/>
        </p:nvSpPr>
        <p:spPr>
          <a:xfrm>
            <a:off x="381000" y="1079500"/>
            <a:ext cx="11430000" cy="533400"/>
          </a:xfrm>
          <a:prstGeom prst="rect">
            <a:avLst/>
          </a:prstGeom>
          <a:solidFill>
            <a:srgbClr val="3B82F6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3BF0A14-D3DC-2D41-AD37-850B0A30CFEC}"/>
              </a:ext>
            </a:extLst>
          </p:cNvPr>
          <p:cNvSpPr txBox="1"/>
          <p:nvPr/>
        </p:nvSpPr>
        <p:spPr>
          <a:xfrm>
            <a:off x="444500" y="1079500"/>
            <a:ext cx="762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DM Sans"/>
              </a:rPr>
              <a:t>Rule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B80476-DAAA-AA4F-BD5B-F76AA994655A}"/>
              </a:ext>
            </a:extLst>
          </p:cNvPr>
          <p:cNvSpPr txBox="1"/>
          <p:nvPr/>
        </p:nvSpPr>
        <p:spPr>
          <a:xfrm>
            <a:off x="1333500" y="1079500"/>
            <a:ext cx="3429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DM Sans"/>
              </a:rPr>
              <a:t>Criterion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B8180F-E564-A949-A944-A177253792F4}"/>
              </a:ext>
            </a:extLst>
          </p:cNvPr>
          <p:cNvSpPr txBox="1"/>
          <p:nvPr/>
        </p:nvSpPr>
        <p:spPr>
          <a:xfrm>
            <a:off x="4889500" y="1079500"/>
            <a:ext cx="2032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DM Sans"/>
              </a:rPr>
              <a:t>Vol. Declined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768D1E-7050-7C44-8DD2-50A9BAC467DF}"/>
              </a:ext>
            </a:extLst>
          </p:cNvPr>
          <p:cNvSpPr txBox="1"/>
          <p:nvPr/>
        </p:nvSpPr>
        <p:spPr>
          <a:xfrm>
            <a:off x="7048500" y="1079500"/>
            <a:ext cx="2032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DM Sans"/>
              </a:rPr>
              <a:t>New Bad Rate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E373094-6B21-A549-951F-4F965995AF74}"/>
              </a:ext>
            </a:extLst>
          </p:cNvPr>
          <p:cNvSpPr txBox="1"/>
          <p:nvPr/>
        </p:nvSpPr>
        <p:spPr>
          <a:xfrm>
            <a:off x="9207500" y="1079500"/>
            <a:ext cx="2540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DM Sans"/>
              </a:rPr>
              <a:t>Bad Rate </a:t>
            </a:r>
            <a:r>
              <a:rPr lang="el-GR" sz="1400" b="1">
                <a:solidFill>
                  <a:srgbClr val="FFFFFF"/>
                </a:solidFill>
              </a:rPr>
              <a:t>Δ</a:t>
            </a:r>
            <a:endParaRPr lang="en-US" sz="1400" b="1">
              <a:solidFill>
                <a:srgbClr val="FFFFFF"/>
              </a:solidFill>
              <a:latin typeface="DM San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3F8E3B8-0583-A649-B893-A3EF3983BE0A}"/>
              </a:ext>
            </a:extLst>
          </p:cNvPr>
          <p:cNvSpPr/>
          <p:nvPr/>
        </p:nvSpPr>
        <p:spPr>
          <a:xfrm>
            <a:off x="381000" y="1612900"/>
            <a:ext cx="11430000" cy="533400"/>
          </a:xfrm>
          <a:prstGeom prst="rect">
            <a:avLst/>
          </a:prstGeom>
          <a:solidFill>
            <a:srgbClr val="111836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E5AA0C-F4D0-254B-B3EF-6FDD0D94B239}"/>
              </a:ext>
            </a:extLst>
          </p:cNvPr>
          <p:cNvSpPr/>
          <p:nvPr/>
        </p:nvSpPr>
        <p:spPr>
          <a:xfrm>
            <a:off x="381000" y="2133600"/>
            <a:ext cx="11430000" cy="12700"/>
          </a:xfrm>
          <a:prstGeom prst="rect">
            <a:avLst/>
          </a:prstGeom>
          <a:solidFill>
            <a:srgbClr val="1E2A5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D4E1712-FBCE-484A-9354-CF43DA4BEE50}"/>
              </a:ext>
            </a:extLst>
          </p:cNvPr>
          <p:cNvSpPr txBox="1"/>
          <p:nvPr/>
        </p:nvSpPr>
        <p:spPr>
          <a:xfrm>
            <a:off x="444500" y="1612900"/>
            <a:ext cx="762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CBD5E1"/>
                </a:solidFill>
                <a:latin typeface="DM Sans"/>
              </a:rPr>
              <a:t>R1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1A5AC70-62A1-D943-8864-B50BE9833E4E}"/>
              </a:ext>
            </a:extLst>
          </p:cNvPr>
          <p:cNvSpPr txBox="1"/>
          <p:nvPr/>
        </p:nvSpPr>
        <p:spPr>
          <a:xfrm>
            <a:off x="1333500" y="1612900"/>
            <a:ext cx="3429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CBD5E1"/>
                </a:solidFill>
                <a:latin typeface="DM Sans"/>
              </a:rPr>
              <a:t>FICO &lt; 680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706CEF6-4885-9B43-B3BA-6BCA9571845E}"/>
              </a:ext>
            </a:extLst>
          </p:cNvPr>
          <p:cNvSpPr txBox="1"/>
          <p:nvPr/>
        </p:nvSpPr>
        <p:spPr>
          <a:xfrm>
            <a:off x="4889500" y="1612900"/>
            <a:ext cx="2032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CBD5E1"/>
                </a:solidFill>
                <a:latin typeface="DM Sans"/>
              </a:rPr>
              <a:t>22.0%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3C7CD2C-8A18-614A-9D2E-5873BE781ADD}"/>
              </a:ext>
            </a:extLst>
          </p:cNvPr>
          <p:cNvSpPr txBox="1"/>
          <p:nvPr/>
        </p:nvSpPr>
        <p:spPr>
          <a:xfrm>
            <a:off x="7048500" y="1612900"/>
            <a:ext cx="2032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CBD5E1"/>
                </a:solidFill>
                <a:latin typeface="DM Sans"/>
              </a:rPr>
              <a:t>16.3%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2BD55D-3D5B-E043-AE81-239F2CB21DA2}"/>
              </a:ext>
            </a:extLst>
          </p:cNvPr>
          <p:cNvSpPr txBox="1"/>
          <p:nvPr/>
        </p:nvSpPr>
        <p:spPr>
          <a:xfrm>
            <a:off x="9207500" y="1612900"/>
            <a:ext cx="2540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CBD5E1"/>
                </a:solidFill>
                <a:latin typeface="DM Sans"/>
              </a:rPr>
              <a:t>−16.4%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F220F64-4627-8F4D-81EE-44AA8D5C6431}"/>
              </a:ext>
            </a:extLst>
          </p:cNvPr>
          <p:cNvSpPr/>
          <p:nvPr/>
        </p:nvSpPr>
        <p:spPr>
          <a:xfrm>
            <a:off x="381000" y="2146300"/>
            <a:ext cx="11430000" cy="533400"/>
          </a:xfrm>
          <a:prstGeom prst="rect">
            <a:avLst/>
          </a:prstGeom>
          <a:solidFill>
            <a:srgbClr val="111836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00C6635-7073-F846-B272-3D9C30B75EFC}"/>
              </a:ext>
            </a:extLst>
          </p:cNvPr>
          <p:cNvSpPr/>
          <p:nvPr/>
        </p:nvSpPr>
        <p:spPr>
          <a:xfrm>
            <a:off x="381000" y="2667000"/>
            <a:ext cx="11430000" cy="12700"/>
          </a:xfrm>
          <a:prstGeom prst="rect">
            <a:avLst/>
          </a:prstGeom>
          <a:solidFill>
            <a:srgbClr val="1E2A5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635DB61-1090-1849-A0FE-F6CE292E6494}"/>
              </a:ext>
            </a:extLst>
          </p:cNvPr>
          <p:cNvSpPr txBox="1"/>
          <p:nvPr/>
        </p:nvSpPr>
        <p:spPr>
          <a:xfrm>
            <a:off x="444500" y="2146300"/>
            <a:ext cx="762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CBD5E1"/>
                </a:solidFill>
                <a:latin typeface="DM Sans"/>
              </a:rPr>
              <a:t>R2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D1D195B-999E-1749-9D0C-8B937623D7D2}"/>
              </a:ext>
            </a:extLst>
          </p:cNvPr>
          <p:cNvSpPr txBox="1"/>
          <p:nvPr/>
        </p:nvSpPr>
        <p:spPr>
          <a:xfrm>
            <a:off x="1333500" y="2146300"/>
            <a:ext cx="3429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CBD5E1"/>
                </a:solidFill>
                <a:latin typeface="DM Sans"/>
              </a:rPr>
              <a:t>Grade E / F / 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551E3AC-E969-E240-AE1E-6D120CB1BC8B}"/>
              </a:ext>
            </a:extLst>
          </p:cNvPr>
          <p:cNvSpPr txBox="1"/>
          <p:nvPr/>
        </p:nvSpPr>
        <p:spPr>
          <a:xfrm>
            <a:off x="4889500" y="2146300"/>
            <a:ext cx="2032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CBD5E1"/>
                </a:solidFill>
                <a:latin typeface="DM Sans"/>
              </a:rPr>
              <a:t>17.3%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B52DF7F-60AD-5645-89D7-FDD5E6F092CA}"/>
              </a:ext>
            </a:extLst>
          </p:cNvPr>
          <p:cNvSpPr txBox="1"/>
          <p:nvPr/>
        </p:nvSpPr>
        <p:spPr>
          <a:xfrm>
            <a:off x="7048500" y="2146300"/>
            <a:ext cx="2032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CBD5E1"/>
                </a:solidFill>
                <a:latin typeface="DM Sans"/>
              </a:rPr>
              <a:t>17.5%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3ED8922-3AB0-6B4C-8F71-2F52330FDFB0}"/>
              </a:ext>
            </a:extLst>
          </p:cNvPr>
          <p:cNvSpPr txBox="1"/>
          <p:nvPr/>
        </p:nvSpPr>
        <p:spPr>
          <a:xfrm>
            <a:off x="9207500" y="2146300"/>
            <a:ext cx="2540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CBD5E1"/>
                </a:solidFill>
                <a:latin typeface="DM Sans"/>
              </a:rPr>
              <a:t>−10.3%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B49AD71-FEC2-1E43-AB7C-6CD593EC0677}"/>
              </a:ext>
            </a:extLst>
          </p:cNvPr>
          <p:cNvSpPr/>
          <p:nvPr/>
        </p:nvSpPr>
        <p:spPr>
          <a:xfrm>
            <a:off x="381000" y="2679700"/>
            <a:ext cx="11430000" cy="533400"/>
          </a:xfrm>
          <a:prstGeom prst="rect">
            <a:avLst/>
          </a:prstGeom>
          <a:solidFill>
            <a:srgbClr val="111836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94EC36C-C61B-2145-997C-E3469FC11E98}"/>
              </a:ext>
            </a:extLst>
          </p:cNvPr>
          <p:cNvSpPr/>
          <p:nvPr/>
        </p:nvSpPr>
        <p:spPr>
          <a:xfrm>
            <a:off x="381000" y="3200400"/>
            <a:ext cx="11430000" cy="12700"/>
          </a:xfrm>
          <a:prstGeom prst="rect">
            <a:avLst/>
          </a:prstGeom>
          <a:solidFill>
            <a:srgbClr val="1E2A5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2F8B6A2-2E7A-CD4D-A775-8855CA233B30}"/>
              </a:ext>
            </a:extLst>
          </p:cNvPr>
          <p:cNvSpPr txBox="1"/>
          <p:nvPr/>
        </p:nvSpPr>
        <p:spPr>
          <a:xfrm>
            <a:off x="444500" y="2679700"/>
            <a:ext cx="762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CBD5E1"/>
                </a:solidFill>
                <a:latin typeface="DM Sans"/>
              </a:rPr>
              <a:t>R3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221F371-76F5-1E4E-9ED2-BB6CD116ABF3}"/>
              </a:ext>
            </a:extLst>
          </p:cNvPr>
          <p:cNvSpPr txBox="1"/>
          <p:nvPr/>
        </p:nvSpPr>
        <p:spPr>
          <a:xfrm>
            <a:off x="1333500" y="2679700"/>
            <a:ext cx="3429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CBD5E1"/>
                </a:solidFill>
                <a:latin typeface="DM Sans"/>
              </a:rPr>
              <a:t>Revol Util &gt; 80%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56C18EF-49A0-4E46-8A08-DABB4718CD2E}"/>
              </a:ext>
            </a:extLst>
          </p:cNvPr>
          <p:cNvSpPr txBox="1"/>
          <p:nvPr/>
        </p:nvSpPr>
        <p:spPr>
          <a:xfrm>
            <a:off x="4889500" y="2679700"/>
            <a:ext cx="2032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CBD5E1"/>
                </a:solidFill>
                <a:latin typeface="DM Sans"/>
              </a:rPr>
              <a:t>17.3%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34B85BC-8752-114E-8013-11AB78AFE5DC}"/>
              </a:ext>
            </a:extLst>
          </p:cNvPr>
          <p:cNvSpPr txBox="1"/>
          <p:nvPr/>
        </p:nvSpPr>
        <p:spPr>
          <a:xfrm>
            <a:off x="7048500" y="2679700"/>
            <a:ext cx="2032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CBD5E1"/>
                </a:solidFill>
                <a:latin typeface="DM Sans"/>
              </a:rPr>
              <a:t>17.7%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6A8ECB8-DAC2-C64E-A1B0-5F145E33DF6D}"/>
              </a:ext>
            </a:extLst>
          </p:cNvPr>
          <p:cNvSpPr txBox="1"/>
          <p:nvPr/>
        </p:nvSpPr>
        <p:spPr>
          <a:xfrm>
            <a:off x="9207500" y="2679700"/>
            <a:ext cx="2540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CBD5E1"/>
                </a:solidFill>
                <a:latin typeface="DM Sans"/>
              </a:rPr>
              <a:t>−9.2%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9EDB8C-A0F5-8043-83AB-96179721B4CA}"/>
              </a:ext>
            </a:extLst>
          </p:cNvPr>
          <p:cNvSpPr/>
          <p:nvPr/>
        </p:nvSpPr>
        <p:spPr>
          <a:xfrm>
            <a:off x="381000" y="3213100"/>
            <a:ext cx="11430000" cy="533400"/>
          </a:xfrm>
          <a:prstGeom prst="rect">
            <a:avLst/>
          </a:prstGeom>
          <a:solidFill>
            <a:srgbClr val="1A254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E6154AE-E150-304D-8E68-10BA1D635340}"/>
              </a:ext>
            </a:extLst>
          </p:cNvPr>
          <p:cNvSpPr/>
          <p:nvPr/>
        </p:nvSpPr>
        <p:spPr>
          <a:xfrm>
            <a:off x="381000" y="3733800"/>
            <a:ext cx="11430000" cy="12700"/>
          </a:xfrm>
          <a:prstGeom prst="rect">
            <a:avLst/>
          </a:prstGeom>
          <a:solidFill>
            <a:srgbClr val="1E2A5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6E2ABDB-3432-7945-8EC9-D85D1C028627}"/>
              </a:ext>
            </a:extLst>
          </p:cNvPr>
          <p:cNvSpPr txBox="1"/>
          <p:nvPr/>
        </p:nvSpPr>
        <p:spPr>
          <a:xfrm>
            <a:off x="444500" y="3213100"/>
            <a:ext cx="762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3B82F6"/>
                </a:solidFill>
                <a:latin typeface="DM Sans"/>
              </a:rPr>
              <a:t>R4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BB3B760-B080-3D49-BB8D-D02E3B397808}"/>
              </a:ext>
            </a:extLst>
          </p:cNvPr>
          <p:cNvSpPr txBox="1"/>
          <p:nvPr/>
        </p:nvSpPr>
        <p:spPr>
          <a:xfrm>
            <a:off x="1333500" y="3213100"/>
            <a:ext cx="3429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3B82F6"/>
                </a:solidFill>
                <a:latin typeface="DM Sans"/>
              </a:rPr>
              <a:t>R1 OR R2 OR R3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AB31BC5-7999-F448-9E6C-6618EAD9882A}"/>
              </a:ext>
            </a:extLst>
          </p:cNvPr>
          <p:cNvSpPr txBox="1"/>
          <p:nvPr/>
        </p:nvSpPr>
        <p:spPr>
          <a:xfrm>
            <a:off x="4889500" y="3213100"/>
            <a:ext cx="2032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3B82F6"/>
                </a:solidFill>
                <a:latin typeface="DM Sans"/>
              </a:rPr>
              <a:t>43.3%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7F8517C-F3F1-1C48-91F0-5B88B2D16E0C}"/>
              </a:ext>
            </a:extLst>
          </p:cNvPr>
          <p:cNvSpPr txBox="1"/>
          <p:nvPr/>
        </p:nvSpPr>
        <p:spPr>
          <a:xfrm>
            <a:off x="7048500" y="3213100"/>
            <a:ext cx="2032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3B82F6"/>
                </a:solidFill>
                <a:latin typeface="DM Sans"/>
              </a:rPr>
              <a:t>15.5%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8339344-016C-9B4C-B109-5130460C89A0}"/>
              </a:ext>
            </a:extLst>
          </p:cNvPr>
          <p:cNvSpPr txBox="1"/>
          <p:nvPr/>
        </p:nvSpPr>
        <p:spPr>
          <a:xfrm>
            <a:off x="9207500" y="3213100"/>
            <a:ext cx="2540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3B82F6"/>
                </a:solidFill>
                <a:latin typeface="DM Sans"/>
              </a:rPr>
              <a:t>−20.5%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D08358F-BD36-7445-8B78-F4870937468D}"/>
              </a:ext>
            </a:extLst>
          </p:cNvPr>
          <p:cNvSpPr/>
          <p:nvPr/>
        </p:nvSpPr>
        <p:spPr>
          <a:xfrm>
            <a:off x="381000" y="3746500"/>
            <a:ext cx="11430000" cy="533400"/>
          </a:xfrm>
          <a:prstGeom prst="rect">
            <a:avLst/>
          </a:prstGeom>
          <a:solidFill>
            <a:srgbClr val="111836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D2DC2DE-AD4F-F345-BFC2-B8A719C5474A}"/>
              </a:ext>
            </a:extLst>
          </p:cNvPr>
          <p:cNvSpPr/>
          <p:nvPr/>
        </p:nvSpPr>
        <p:spPr>
          <a:xfrm>
            <a:off x="381000" y="4267200"/>
            <a:ext cx="11430000" cy="12700"/>
          </a:xfrm>
          <a:prstGeom prst="rect">
            <a:avLst/>
          </a:prstGeom>
          <a:solidFill>
            <a:srgbClr val="1E2A5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AA637CE-64EA-E847-B492-B53A92711800}"/>
              </a:ext>
            </a:extLst>
          </p:cNvPr>
          <p:cNvSpPr txBox="1"/>
          <p:nvPr/>
        </p:nvSpPr>
        <p:spPr>
          <a:xfrm>
            <a:off x="444500" y="3746500"/>
            <a:ext cx="762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CBD5E1"/>
                </a:solidFill>
                <a:latin typeface="DM Sans"/>
              </a:rPr>
              <a:t>R5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B39B726-70E4-E140-8E1F-4C594CAD9DE3}"/>
              </a:ext>
            </a:extLst>
          </p:cNvPr>
          <p:cNvSpPr txBox="1"/>
          <p:nvPr/>
        </p:nvSpPr>
        <p:spPr>
          <a:xfrm>
            <a:off x="1333500" y="3746500"/>
            <a:ext cx="3429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CBD5E1"/>
                </a:solidFill>
                <a:latin typeface="DM Sans"/>
              </a:rPr>
              <a:t>Bankruptcy Flag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7FAAAE8-34CE-9841-B877-4B343A1EC2E6}"/>
              </a:ext>
            </a:extLst>
          </p:cNvPr>
          <p:cNvSpPr txBox="1"/>
          <p:nvPr/>
        </p:nvSpPr>
        <p:spPr>
          <a:xfrm>
            <a:off x="4889500" y="3746500"/>
            <a:ext cx="2032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CBD5E1"/>
                </a:solidFill>
                <a:latin typeface="DM Sans"/>
              </a:rPr>
              <a:t>3.1%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F485E2C-8F61-984E-820E-7BE93D93F337}"/>
              </a:ext>
            </a:extLst>
          </p:cNvPr>
          <p:cNvSpPr txBox="1"/>
          <p:nvPr/>
        </p:nvSpPr>
        <p:spPr>
          <a:xfrm>
            <a:off x="7048500" y="3746500"/>
            <a:ext cx="2032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CBD5E1"/>
                </a:solidFill>
                <a:latin typeface="DM Sans"/>
              </a:rPr>
              <a:t>19.1%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005C267-E26C-FB4E-828E-820D4E3B3664}"/>
              </a:ext>
            </a:extLst>
          </p:cNvPr>
          <p:cNvSpPr txBox="1"/>
          <p:nvPr/>
        </p:nvSpPr>
        <p:spPr>
          <a:xfrm>
            <a:off x="9207500" y="3746500"/>
            <a:ext cx="2540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CBD5E1"/>
                </a:solidFill>
                <a:latin typeface="DM Sans"/>
              </a:rPr>
              <a:t>−2.1%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F3B411F-4888-E445-BFE7-BF4E353C982B}"/>
              </a:ext>
            </a:extLst>
          </p:cNvPr>
          <p:cNvSpPr/>
          <p:nvPr/>
        </p:nvSpPr>
        <p:spPr>
          <a:xfrm>
            <a:off x="381000" y="4279900"/>
            <a:ext cx="11430000" cy="533400"/>
          </a:xfrm>
          <a:prstGeom prst="rect">
            <a:avLst/>
          </a:prstGeom>
          <a:solidFill>
            <a:srgbClr val="1A254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270C00D-DD17-C34D-BE0F-5269BD6AFB6A}"/>
              </a:ext>
            </a:extLst>
          </p:cNvPr>
          <p:cNvSpPr/>
          <p:nvPr/>
        </p:nvSpPr>
        <p:spPr>
          <a:xfrm>
            <a:off x="381000" y="4800600"/>
            <a:ext cx="11430000" cy="12700"/>
          </a:xfrm>
          <a:prstGeom prst="rect">
            <a:avLst/>
          </a:prstGeom>
          <a:solidFill>
            <a:srgbClr val="1E2A5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8D5822C-831D-D248-8773-F831CD6D9DE1}"/>
              </a:ext>
            </a:extLst>
          </p:cNvPr>
          <p:cNvSpPr txBox="1"/>
          <p:nvPr/>
        </p:nvSpPr>
        <p:spPr>
          <a:xfrm>
            <a:off x="444500" y="4279900"/>
            <a:ext cx="762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3B82F6"/>
                </a:solidFill>
                <a:latin typeface="DM Sans"/>
              </a:rPr>
              <a:t>R6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A85E500-98F0-8A4E-AA66-BA960DAE88E4}"/>
              </a:ext>
            </a:extLst>
          </p:cNvPr>
          <p:cNvSpPr txBox="1"/>
          <p:nvPr/>
        </p:nvSpPr>
        <p:spPr>
          <a:xfrm>
            <a:off x="1333500" y="4279900"/>
            <a:ext cx="3429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3B82F6"/>
                </a:solidFill>
                <a:latin typeface="DM Sans"/>
              </a:rPr>
              <a:t>R4 + Bankruptcy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E42CE31-19FA-064C-806E-CBAB55848A39}"/>
              </a:ext>
            </a:extLst>
          </p:cNvPr>
          <p:cNvSpPr txBox="1"/>
          <p:nvPr/>
        </p:nvSpPr>
        <p:spPr>
          <a:xfrm>
            <a:off x="4889500" y="4279900"/>
            <a:ext cx="2032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3B82F6"/>
                </a:solidFill>
                <a:latin typeface="DM Sans"/>
              </a:rPr>
              <a:t>44.6%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932763-5DFA-BA45-AB83-DCE6FAFFDD35}"/>
              </a:ext>
            </a:extLst>
          </p:cNvPr>
          <p:cNvSpPr txBox="1"/>
          <p:nvPr/>
        </p:nvSpPr>
        <p:spPr>
          <a:xfrm>
            <a:off x="7048500" y="4279900"/>
            <a:ext cx="2032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3B82F6"/>
                </a:solidFill>
                <a:latin typeface="DM Sans"/>
              </a:rPr>
              <a:t>15.3%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38FFF61-72E2-4040-AE4E-0A214F88BA6D}"/>
              </a:ext>
            </a:extLst>
          </p:cNvPr>
          <p:cNvSpPr txBox="1"/>
          <p:nvPr/>
        </p:nvSpPr>
        <p:spPr>
          <a:xfrm>
            <a:off x="9207500" y="4279900"/>
            <a:ext cx="2540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3B82F6"/>
                </a:solidFill>
                <a:latin typeface="DM Sans"/>
              </a:rPr>
              <a:t>−21.5%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CE12F03-E2E0-1C45-8DAE-77FBE5B2D613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3B82F6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6FDE139-D25C-2744-BD60-5284C49068FA}"/>
              </a:ext>
            </a:extLst>
          </p:cNvPr>
          <p:cNvSpPr txBox="1"/>
          <p:nvPr/>
        </p:nvSpPr>
        <p:spPr>
          <a:xfrm>
            <a:off x="381000" y="5016500"/>
            <a:ext cx="1143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64748B"/>
                </a:solidFill>
                <a:latin typeface="DM Sans"/>
              </a:rPr>
              <a:t>Baseline bad rate: 19.5%  ·  All rules use only origination-time data</a:t>
            </a:r>
          </a:p>
        </p:txBody>
      </p:sp>
    </p:spTree>
    <p:extLst>
      <p:ext uri="{BB962C8B-B14F-4D97-AF65-F5344CB8AC3E}">
        <p14:creationId xmlns:p14="http://schemas.microsoft.com/office/powerpoint/2010/main" val="814705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9AD2EF6-66CD-254F-99A1-D50C8A55C80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2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599E717-AD1C-9A41-8E62-6061B2D88184}"/>
              </a:ext>
            </a:extLst>
          </p:cNvPr>
          <p:cNvSpPr/>
          <p:nvPr/>
        </p:nvSpPr>
        <p:spPr>
          <a:xfrm>
            <a:off x="0" y="0"/>
            <a:ext cx="12192000" cy="889000"/>
          </a:xfrm>
          <a:prstGeom prst="rect">
            <a:avLst/>
          </a:prstGeom>
          <a:solidFill>
            <a:srgbClr val="0F153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A81279-542B-9E43-8AF3-21AEE9F0CFF1}"/>
              </a:ext>
            </a:extLst>
          </p:cNvPr>
          <p:cNvSpPr txBox="1"/>
          <p:nvPr/>
        </p:nvSpPr>
        <p:spPr>
          <a:xfrm>
            <a:off x="508000" y="0"/>
            <a:ext cx="11176000" cy="889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  <a:latin typeface="DM Sans"/>
              </a:rPr>
              <a:t>Recommended Ruleset: FICO &lt; 680  OR  Grade E/F/G  OR  Revol Util &gt; 80%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246BD56-2B9B-A64E-90FC-072B9D09A98C}"/>
              </a:ext>
            </a:extLst>
          </p:cNvPr>
          <p:cNvSpPr/>
          <p:nvPr/>
        </p:nvSpPr>
        <p:spPr>
          <a:xfrm>
            <a:off x="508000" y="1143000"/>
            <a:ext cx="3302000" cy="482600"/>
          </a:xfrm>
          <a:prstGeom prst="roundRect">
            <a:avLst/>
          </a:prstGeom>
          <a:solidFill>
            <a:srgbClr val="3B82F6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DM Sans"/>
              </a:rPr>
              <a:t>Recommended Ruleset (R4)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39483B5-E9D4-9E47-9E64-2619B2A03A0C}"/>
              </a:ext>
            </a:extLst>
          </p:cNvPr>
          <p:cNvSpPr/>
          <p:nvPr/>
        </p:nvSpPr>
        <p:spPr>
          <a:xfrm>
            <a:off x="508000" y="1841500"/>
            <a:ext cx="2667000" cy="2540000"/>
          </a:xfrm>
          <a:prstGeom prst="roundRect">
            <a:avLst/>
          </a:prstGeom>
          <a:solidFill>
            <a:srgbClr val="151B3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7FCADB-8F84-BD4C-A38B-8ABBEA6866CA}"/>
              </a:ext>
            </a:extLst>
          </p:cNvPr>
          <p:cNvSpPr txBox="1"/>
          <p:nvPr/>
        </p:nvSpPr>
        <p:spPr>
          <a:xfrm>
            <a:off x="635000" y="2159000"/>
            <a:ext cx="2413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400" b="1">
                <a:solidFill>
                  <a:srgbClr val="FBBF24"/>
                </a:solidFill>
                <a:latin typeface="DM Sans"/>
              </a:rPr>
              <a:t>43.3%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BD0689-24A1-EA4F-8243-1A0A598F2F7F}"/>
              </a:ext>
            </a:extLst>
          </p:cNvPr>
          <p:cNvSpPr txBox="1"/>
          <p:nvPr/>
        </p:nvSpPr>
        <p:spPr>
          <a:xfrm>
            <a:off x="635000" y="3492500"/>
            <a:ext cx="2413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94A3B8"/>
                </a:solidFill>
                <a:latin typeface="DM Sans"/>
              </a:rPr>
              <a:t>Volume Declined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2A7122B-A07A-2347-9C12-788C9154FCF7}"/>
              </a:ext>
            </a:extLst>
          </p:cNvPr>
          <p:cNvSpPr/>
          <p:nvPr/>
        </p:nvSpPr>
        <p:spPr>
          <a:xfrm>
            <a:off x="3340100" y="1841500"/>
            <a:ext cx="2667000" cy="2540000"/>
          </a:xfrm>
          <a:prstGeom prst="roundRect">
            <a:avLst/>
          </a:prstGeom>
          <a:solidFill>
            <a:srgbClr val="151B3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427087-6EA2-714A-842F-E80C18BB4824}"/>
              </a:ext>
            </a:extLst>
          </p:cNvPr>
          <p:cNvSpPr txBox="1"/>
          <p:nvPr/>
        </p:nvSpPr>
        <p:spPr>
          <a:xfrm>
            <a:off x="3467100" y="2159000"/>
            <a:ext cx="2413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400" b="1">
                <a:solidFill>
                  <a:srgbClr val="34D399"/>
                </a:solidFill>
                <a:latin typeface="DM Sans"/>
              </a:rPr>
              <a:t>15.5%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1A845A-6F1A-6F49-A793-AEE8833498D2}"/>
              </a:ext>
            </a:extLst>
          </p:cNvPr>
          <p:cNvSpPr txBox="1"/>
          <p:nvPr/>
        </p:nvSpPr>
        <p:spPr>
          <a:xfrm>
            <a:off x="3467100" y="3492500"/>
            <a:ext cx="2413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94A3B8"/>
                </a:solidFill>
                <a:latin typeface="DM Sans"/>
              </a:rPr>
              <a:t>New Bad Rate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79FA53C-47C5-AA45-95B0-FADAD0F660F0}"/>
              </a:ext>
            </a:extLst>
          </p:cNvPr>
          <p:cNvSpPr/>
          <p:nvPr/>
        </p:nvSpPr>
        <p:spPr>
          <a:xfrm>
            <a:off x="6172200" y="1841500"/>
            <a:ext cx="2667000" cy="2540000"/>
          </a:xfrm>
          <a:prstGeom prst="roundRect">
            <a:avLst/>
          </a:prstGeom>
          <a:solidFill>
            <a:srgbClr val="151B3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739808-34CB-F040-BE9F-14B13A8F814C}"/>
              </a:ext>
            </a:extLst>
          </p:cNvPr>
          <p:cNvSpPr txBox="1"/>
          <p:nvPr/>
        </p:nvSpPr>
        <p:spPr>
          <a:xfrm>
            <a:off x="6299200" y="2159000"/>
            <a:ext cx="2413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400" b="1">
                <a:solidFill>
                  <a:srgbClr val="3B82F6"/>
                </a:solidFill>
                <a:latin typeface="DM Sans"/>
              </a:rPr>
              <a:t>−20.5%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E0DC420-8F51-BC4C-8191-D2E7AF48E41C}"/>
              </a:ext>
            </a:extLst>
          </p:cNvPr>
          <p:cNvSpPr txBox="1"/>
          <p:nvPr/>
        </p:nvSpPr>
        <p:spPr>
          <a:xfrm>
            <a:off x="6299200" y="3492500"/>
            <a:ext cx="2413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94A3B8"/>
                </a:solidFill>
                <a:latin typeface="DM Sans"/>
              </a:rPr>
              <a:t>Bad Rate Reduction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B133268-7831-FD4B-861F-2EB5DFB341D1}"/>
              </a:ext>
            </a:extLst>
          </p:cNvPr>
          <p:cNvSpPr/>
          <p:nvPr/>
        </p:nvSpPr>
        <p:spPr>
          <a:xfrm>
            <a:off x="9004300" y="1841500"/>
            <a:ext cx="2667000" cy="2540000"/>
          </a:xfrm>
          <a:prstGeom prst="roundRect">
            <a:avLst/>
          </a:prstGeom>
          <a:solidFill>
            <a:srgbClr val="151B3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A1DBD4-278A-2645-9192-63D137E979BC}"/>
              </a:ext>
            </a:extLst>
          </p:cNvPr>
          <p:cNvSpPr txBox="1"/>
          <p:nvPr/>
        </p:nvSpPr>
        <p:spPr>
          <a:xfrm>
            <a:off x="9131300" y="2159000"/>
            <a:ext cx="2413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400" b="1">
                <a:solidFill>
                  <a:srgbClr val="F87171"/>
                </a:solidFill>
                <a:latin typeface="DM Sans"/>
              </a:rPr>
              <a:t>40.5%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C073BC-7AC2-E94D-A5F3-E2A9B0F56FAE}"/>
              </a:ext>
            </a:extLst>
          </p:cNvPr>
          <p:cNvSpPr txBox="1"/>
          <p:nvPr/>
        </p:nvSpPr>
        <p:spPr>
          <a:xfrm>
            <a:off x="9131300" y="3492500"/>
            <a:ext cx="2413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94A3B8"/>
                </a:solidFill>
                <a:latin typeface="DM Sans"/>
              </a:rPr>
              <a:t>Good Loans Lost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FCC7BFF5-4C79-334B-9CF5-3BCBF54983BB}"/>
              </a:ext>
            </a:extLst>
          </p:cNvPr>
          <p:cNvSpPr/>
          <p:nvPr/>
        </p:nvSpPr>
        <p:spPr>
          <a:xfrm>
            <a:off x="508000" y="4953000"/>
            <a:ext cx="11176000" cy="825500"/>
          </a:xfrm>
          <a:prstGeom prst="roundRect">
            <a:avLst/>
          </a:prstGeom>
          <a:solidFill>
            <a:srgbClr val="151B3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21B77F3-DECE-584C-BF43-5A26267882E9}"/>
              </a:ext>
            </a:extLst>
          </p:cNvPr>
          <p:cNvSpPr/>
          <p:nvPr/>
        </p:nvSpPr>
        <p:spPr>
          <a:xfrm>
            <a:off x="508000" y="4953000"/>
            <a:ext cx="50800" cy="825500"/>
          </a:xfrm>
          <a:prstGeom prst="rect">
            <a:avLst/>
          </a:prstGeom>
          <a:solidFill>
            <a:srgbClr val="3B82F6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56E35C0-98E6-2A43-A47D-D771DB53FFE3}"/>
              </a:ext>
            </a:extLst>
          </p:cNvPr>
          <p:cNvSpPr txBox="1"/>
          <p:nvPr/>
        </p:nvSpPr>
        <p:spPr>
          <a:xfrm>
            <a:off x="762000" y="4953000"/>
            <a:ext cx="10731500" cy="8255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600">
                <a:solidFill>
                  <a:srgbClr val="E2E8F0"/>
                </a:solidFill>
                <a:latin typeface="DM Sans"/>
              </a:rPr>
              <a:t>"Elbow" of the trade-off curve — meaningful risk reduction without catastrophic volume loss.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A321A73-1064-4E4D-97E9-F0E233FCE51C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3B82F6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3429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1B9AA37-4634-0C4F-BCED-9272C83A602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2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6739954-9911-824E-BCEE-0701BCC9F900}"/>
              </a:ext>
            </a:extLst>
          </p:cNvPr>
          <p:cNvSpPr/>
          <p:nvPr/>
        </p:nvSpPr>
        <p:spPr>
          <a:xfrm>
            <a:off x="0" y="0"/>
            <a:ext cx="12192000" cy="889000"/>
          </a:xfrm>
          <a:prstGeom prst="rect">
            <a:avLst/>
          </a:prstGeom>
          <a:solidFill>
            <a:srgbClr val="0F153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EA891C-F8F6-6349-8032-EC95C4EFC5D4}"/>
              </a:ext>
            </a:extLst>
          </p:cNvPr>
          <p:cNvSpPr txBox="1"/>
          <p:nvPr/>
        </p:nvSpPr>
        <p:spPr>
          <a:xfrm>
            <a:off x="508000" y="0"/>
            <a:ext cx="11176000" cy="889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DM Sans"/>
              </a:rPr>
              <a:t>Recommendations &amp; Next Steps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FAB34CD-A4FB-D84B-A7C4-3722E12D936D}"/>
              </a:ext>
            </a:extLst>
          </p:cNvPr>
          <p:cNvSpPr/>
          <p:nvPr/>
        </p:nvSpPr>
        <p:spPr>
          <a:xfrm>
            <a:off x="381000" y="1079500"/>
            <a:ext cx="5588000" cy="482600"/>
          </a:xfrm>
          <a:prstGeom prst="roundRect">
            <a:avLst/>
          </a:prstGeom>
          <a:solidFill>
            <a:srgbClr val="34D399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DM Sans"/>
              </a:rPr>
              <a:t>✓  Implement Now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EEED75C-A2E2-8647-88AD-2FB2837EE980}"/>
              </a:ext>
            </a:extLst>
          </p:cNvPr>
          <p:cNvSpPr/>
          <p:nvPr/>
        </p:nvSpPr>
        <p:spPr>
          <a:xfrm>
            <a:off x="381000" y="1651000"/>
            <a:ext cx="5588000" cy="4318000"/>
          </a:xfrm>
          <a:prstGeom prst="roundRect">
            <a:avLst/>
          </a:prstGeom>
          <a:solidFill>
            <a:srgbClr val="151B3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6CE4FC-D206-8743-875A-25B67A2F0F7A}"/>
              </a:ext>
            </a:extLst>
          </p:cNvPr>
          <p:cNvSpPr txBox="1"/>
          <p:nvPr/>
        </p:nvSpPr>
        <p:spPr>
          <a:xfrm>
            <a:off x="609600" y="1841500"/>
            <a:ext cx="5130800" cy="393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CBD5E1"/>
                </a:solidFill>
                <a:latin typeface="DM Sans"/>
              </a:rPr>
              <a:t>Decline if FICO &lt; 680
Strongest single predictor; 2× baseline bad rate
Decline if Loan Grade E, F, or G
Lending Club's own risk model endorses these thresholds
Decline if Revolving Utilization &gt; 80%
Captures financial stress independent of credit score
Add Bankruptcy as a hard cutoff
Categorical signal; no exceptions policy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D76AD33-6A3B-A547-A972-8974C408841F}"/>
              </a:ext>
            </a:extLst>
          </p:cNvPr>
          <p:cNvSpPr/>
          <p:nvPr/>
        </p:nvSpPr>
        <p:spPr>
          <a:xfrm>
            <a:off x="6223000" y="1079500"/>
            <a:ext cx="5588000" cy="482600"/>
          </a:xfrm>
          <a:prstGeom prst="roundRect">
            <a:avLst/>
          </a:prstGeom>
          <a:solidFill>
            <a:srgbClr val="3B82F6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DM Sans"/>
              </a:rPr>
              <a:t>→  Future Improvements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F1A2E3D-1503-4C46-95B5-7D297C09E64B}"/>
              </a:ext>
            </a:extLst>
          </p:cNvPr>
          <p:cNvSpPr/>
          <p:nvPr/>
        </p:nvSpPr>
        <p:spPr>
          <a:xfrm>
            <a:off x="6223000" y="1651000"/>
            <a:ext cx="5588000" cy="4318000"/>
          </a:xfrm>
          <a:prstGeom prst="roundRect">
            <a:avLst/>
          </a:prstGeom>
          <a:solidFill>
            <a:srgbClr val="151B3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A52025-1BFD-684C-ACF9-421C633E87CE}"/>
              </a:ext>
            </a:extLst>
          </p:cNvPr>
          <p:cNvSpPr txBox="1"/>
          <p:nvPr/>
        </p:nvSpPr>
        <p:spPr>
          <a:xfrm>
            <a:off x="6451600" y="1841500"/>
            <a:ext cx="5130800" cy="393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CBD5E1"/>
                </a:solidFill>
                <a:latin typeface="DM Sans"/>
              </a:rPr>
              <a:t>Build a logistic regression scorecard
Replace hard cutoffs with a continuous risk score
Vintage analysis
Calibrate rules on recent cohorts (2017–2019)
Purpose-specific policies
Small business loans (26% bad rate) need stricter policy
A/B test the rollout
Measure real approval rate impact before deployment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5620EA-ADD8-7442-A13D-C592A9BB96A4}"/>
              </a:ext>
            </a:extLst>
          </p:cNvPr>
          <p:cNvSpPr txBox="1"/>
          <p:nvPr/>
        </p:nvSpPr>
        <p:spPr>
          <a:xfrm>
            <a:off x="381000" y="6096000"/>
            <a:ext cx="114300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64748B"/>
                </a:solidFill>
                <a:latin typeface="DM Sans"/>
              </a:rPr>
              <a:t>All rules use only origination-time data  ·  No post-loan information used  ·  Analysis based on 1,860,331 Lending Club loans 2007–2020 Q3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BCCFD93-2EC7-3040-BF7C-E23980321F63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3B82F6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0253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ABB31E2-1256-CE41-B7AD-181C99EE25DF}">
  <we:reference id="wa200010001" version="1.0.0.0" store="en-US" storeType="OMEX"/>
  <we:alternateReferences>
    <we:reference id="wa200010001" version="1.0.0.0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613</Words>
  <Application>Microsoft Macintosh PowerPoint</Application>
  <PresentationFormat>Widescreen</PresentationFormat>
  <Paragraphs>87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DM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Anqi Chen</cp:lastModifiedBy>
  <cp:revision>2</cp:revision>
  <dcterms:created xsi:type="dcterms:W3CDTF">2013-01-27T09:14:16Z</dcterms:created>
  <dcterms:modified xsi:type="dcterms:W3CDTF">2026-03-05T21:47:40Z</dcterms:modified>
  <cp:category/>
</cp:coreProperties>
</file>