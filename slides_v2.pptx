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4" r:id="rId3"/>
    <p:sldId id="257" r:id="rId4"/>
    <p:sldId id="260" r:id="rId5"/>
    <p:sldId id="266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/>
    <p:restoredTop sz="94666"/>
  </p:normalViewPr>
  <p:slideViewPr>
    <p:cSldViewPr snapToGrid="0" snapToObjects="1">
      <p:cViewPr>
        <p:scale>
          <a:sx n="100" d="100"/>
          <a:sy n="100" d="100"/>
        </p:scale>
        <p:origin x="1256" y="6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B2EA2B-6ED1-A34A-A0BE-1E1A77657417}" type="datetimeFigureOut">
              <a:rPr lang="en-US" smtClean="0"/>
              <a:t>3/6/26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4B031E-964D-014A-96D7-92CB4B792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187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B031E-964D-014A-96D7-92CB4B7928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429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B031E-964D-014A-96D7-92CB4B7928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4874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B031E-964D-014A-96D7-92CB4B79285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1916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B031E-964D-014A-96D7-92CB4B79285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186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35000" y="1714500"/>
            <a:ext cx="50800" cy="177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dirty="0">
                <a:solidFill>
                  <a:srgbClr val="0A0E27"/>
                </a:solidFill>
                <a:latin typeface="Century Gothic"/>
                <a:cs typeface="Segoe UI Semibold"/>
              </a:rPr>
              <a:t>Are We Lending to
the Right Borrowers?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Century Gothic"/>
                <a:cs typeface="Segoe UI"/>
              </a:rPr>
              <a:t>Consumer Credit Policy Analysis  ·  Lending Club 2007–2020 Q3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3B82F6"/>
                </a:solidFill>
                <a:latin typeface="Century Gothic"/>
                <a:cs typeface="Segoe UI"/>
              </a:rPr>
              <a:t>ClarityPay Take-Home Exercise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5384800"/>
            <a:ext cx="4427794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3600" y="5453624"/>
            <a:ext cx="43769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entury Gothic"/>
                <a:cs typeface="Segoe UI"/>
              </a:rPr>
              <a:t>  1,860,331 completed loans  |  2007–2020 Q3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A34707-5098-AB47-999C-D2CCDA8D53DF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62080" y="196848"/>
            <a:ext cx="1189941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0A0E27"/>
                </a:solidFill>
                <a:latin typeface="Century Gothic"/>
                <a:cs typeface="Segoe UI"/>
              </a:rPr>
              <a:t>1.86 Million Completed Loans Analyzed</a:t>
            </a:r>
            <a:r>
              <a:rPr lang="en-US" sz="2200" b="1" dirty="0">
                <a:solidFill>
                  <a:srgbClr val="0A0E27"/>
                </a:solidFill>
                <a:latin typeface="Century Gothic"/>
                <a:cs typeface="Segoe UI"/>
              </a:rPr>
              <a:t>; </a:t>
            </a:r>
            <a:r>
              <a:rPr lang="en-US" sz="2200" b="1" dirty="0">
                <a:solidFill>
                  <a:srgbClr val="0A0E27"/>
                </a:solidFill>
                <a:latin typeface="Century Gothic"/>
                <a:cs typeface="Segoe UI Semibold"/>
              </a:rPr>
              <a:t>1 in 5 Lending Club Loans Were Never Repaid</a:t>
            </a:r>
            <a:endParaRPr sz="2200" b="1" dirty="0">
              <a:solidFill>
                <a:srgbClr val="0A0E27"/>
              </a:solidFill>
              <a:latin typeface="Century Gothic"/>
              <a:cs typeface="Segoe UI"/>
            </a:endParaRPr>
          </a:p>
          <a:p>
            <a:r>
              <a:rPr sz="1400" b="1" dirty="0">
                <a:solidFill>
                  <a:srgbClr val="0A0E27"/>
                </a:solidFill>
                <a:latin typeface="Century Gothic"/>
                <a:cs typeface="Segoe UI"/>
              </a:rPr>
              <a:t>Scope: Fully Paid or Charged Off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71106" y="1057097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64748B"/>
                </a:solidFill>
                <a:latin typeface="Century Gothic"/>
                <a:cs typeface="Segoe UI"/>
              </a:rPr>
              <a:t>Total loans analyzed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71106" y="1367993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B82F6"/>
                </a:solidFill>
                <a:latin typeface="Century Gothic"/>
                <a:cs typeface="Segoe UI Semibold"/>
              </a:rPr>
              <a:t>1,860,331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1106" y="1934087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entury Gothic"/>
                <a:cs typeface="Segoe UI"/>
              </a:rPr>
              <a:t>Fully Paid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1106" y="2244983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0E27"/>
                </a:solidFill>
                <a:latin typeface="Century Gothic"/>
                <a:cs typeface="Segoe UI Semibold"/>
              </a:rPr>
              <a:t>1,497,783  (80.5%)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1106" y="2783367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entury Gothic"/>
                <a:cs typeface="Segoe UI"/>
              </a:rPr>
              <a:t>Charged 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1106" y="3094263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  <a:latin typeface="Century Gothic"/>
                <a:cs typeface="Segoe UI Semibold"/>
              </a:rPr>
              <a:t>362,548  (19.5%)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1106" y="3632647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entury Gothic"/>
                <a:cs typeface="Segoe UI"/>
              </a:rPr>
              <a:t>Date 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1106" y="3943543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0E27"/>
                </a:solidFill>
                <a:latin typeface="Century Gothic"/>
                <a:cs typeface="Segoe UI Semibold"/>
              </a:rPr>
              <a:t>Jan 2007 – Sep 2020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199DDE7-DF7E-8528-62FC-7776D4FB0F38}"/>
              </a:ext>
            </a:extLst>
          </p:cNvPr>
          <p:cNvGrpSpPr/>
          <p:nvPr/>
        </p:nvGrpSpPr>
        <p:grpSpPr>
          <a:xfrm>
            <a:off x="359064" y="1098662"/>
            <a:ext cx="6359003" cy="5311372"/>
            <a:chOff x="291179" y="1092200"/>
            <a:chExt cx="5909656" cy="426720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6076983-0CC1-DBDB-5971-1137B3252AB8}"/>
                </a:ext>
              </a:extLst>
            </p:cNvPr>
            <p:cNvGrpSpPr/>
            <p:nvPr/>
          </p:nvGrpSpPr>
          <p:grpSpPr>
            <a:xfrm>
              <a:off x="317500" y="1092200"/>
              <a:ext cx="5842000" cy="4267200"/>
              <a:chOff x="317500" y="1092200"/>
              <a:chExt cx="5842000" cy="4267200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D725F6E-B3C3-4268-5B4A-BE59352B9163}"/>
                  </a:ext>
                </a:extLst>
              </p:cNvPr>
              <p:cNvSpPr/>
              <p:nvPr/>
            </p:nvSpPr>
            <p:spPr>
              <a:xfrm>
                <a:off x="317500" y="1092200"/>
                <a:ext cx="5842000" cy="355600"/>
              </a:xfrm>
              <a:prstGeom prst="rect">
                <a:avLst/>
              </a:prstGeom>
              <a:solidFill>
                <a:srgbClr val="2B4C7E"/>
              </a:solidFill>
              <a:ln w="9525" cap="flat" cmpd="sng" algn="ctr">
                <a:noFill/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2818134-4E9D-55CE-65B4-F1AD6DC0BC36}"/>
                  </a:ext>
                </a:extLst>
              </p:cNvPr>
              <p:cNvSpPr/>
              <p:nvPr/>
            </p:nvSpPr>
            <p:spPr>
              <a:xfrm>
                <a:off x="317500" y="1447800"/>
                <a:ext cx="5842000" cy="355600"/>
              </a:xfrm>
              <a:prstGeom prst="rect">
                <a:avLst/>
              </a:prstGeom>
              <a:solidFill>
                <a:srgbClr val="FFFFFF"/>
              </a:solidFill>
              <a:ln w="9525" cap="flat" cmpd="sng" algn="ctr">
                <a:noFill/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6EAFBCC9-9858-C900-180D-7F4FC5A40320}"/>
                  </a:ext>
                </a:extLst>
              </p:cNvPr>
              <p:cNvSpPr/>
              <p:nvPr/>
            </p:nvSpPr>
            <p:spPr>
              <a:xfrm>
                <a:off x="317500" y="1803400"/>
                <a:ext cx="5842000" cy="355600"/>
              </a:xfrm>
              <a:prstGeom prst="rect">
                <a:avLst/>
              </a:prstGeom>
              <a:solidFill>
                <a:srgbClr val="F2F6FA"/>
              </a:solidFill>
              <a:ln w="9525" cap="flat" cmpd="sng" algn="ctr">
                <a:noFill/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US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AEFFC77-4BAC-095E-94B1-6E09F1C6CEE5}"/>
                  </a:ext>
                </a:extLst>
              </p:cNvPr>
              <p:cNvSpPr/>
              <p:nvPr/>
            </p:nvSpPr>
            <p:spPr>
              <a:xfrm>
                <a:off x="317500" y="2159000"/>
                <a:ext cx="5842000" cy="355600"/>
              </a:xfrm>
              <a:prstGeom prst="rect">
                <a:avLst/>
              </a:prstGeom>
              <a:solidFill>
                <a:srgbClr val="FFFFFF"/>
              </a:solidFill>
              <a:ln w="9525" cap="flat" cmpd="sng" algn="ctr">
                <a:noFill/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US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2C27630-E59F-BE74-D3BC-CD0BA5EE7BAC}"/>
                  </a:ext>
                </a:extLst>
              </p:cNvPr>
              <p:cNvSpPr/>
              <p:nvPr/>
            </p:nvSpPr>
            <p:spPr>
              <a:xfrm>
                <a:off x="317500" y="2514600"/>
                <a:ext cx="5842000" cy="355600"/>
              </a:xfrm>
              <a:prstGeom prst="rect">
                <a:avLst/>
              </a:prstGeom>
              <a:solidFill>
                <a:srgbClr val="F2F6FA"/>
              </a:solidFill>
              <a:ln w="9525" cap="flat" cmpd="sng" algn="ctr">
                <a:noFill/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C5C4BBA-9E64-CAC8-F1A6-8D3F613D142E}"/>
                  </a:ext>
                </a:extLst>
              </p:cNvPr>
              <p:cNvSpPr/>
              <p:nvPr/>
            </p:nvSpPr>
            <p:spPr>
              <a:xfrm>
                <a:off x="317500" y="2870200"/>
                <a:ext cx="5842000" cy="355600"/>
              </a:xfrm>
              <a:prstGeom prst="rect">
                <a:avLst/>
              </a:prstGeom>
              <a:solidFill>
                <a:srgbClr val="FFFFFF"/>
              </a:solidFill>
              <a:ln w="9525" cap="flat" cmpd="sng" algn="ctr">
                <a:noFill/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US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35983D52-DE1A-5F9E-F9F8-7B54D2049007}"/>
                  </a:ext>
                </a:extLst>
              </p:cNvPr>
              <p:cNvSpPr/>
              <p:nvPr/>
            </p:nvSpPr>
            <p:spPr>
              <a:xfrm>
                <a:off x="317500" y="3225800"/>
                <a:ext cx="5842000" cy="355600"/>
              </a:xfrm>
              <a:prstGeom prst="rect">
                <a:avLst/>
              </a:prstGeom>
              <a:solidFill>
                <a:srgbClr val="F2F6FA"/>
              </a:solidFill>
              <a:ln w="9525" cap="flat" cmpd="sng" algn="ctr">
                <a:noFill/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F3F75B8-1A57-4E90-6D9B-7CD95B50AD92}"/>
                  </a:ext>
                </a:extLst>
              </p:cNvPr>
              <p:cNvSpPr/>
              <p:nvPr/>
            </p:nvSpPr>
            <p:spPr>
              <a:xfrm>
                <a:off x="317500" y="3581400"/>
                <a:ext cx="5842000" cy="355600"/>
              </a:xfrm>
              <a:prstGeom prst="rect">
                <a:avLst/>
              </a:prstGeom>
              <a:solidFill>
                <a:srgbClr val="FFFFFF"/>
              </a:solidFill>
              <a:ln w="9525" cap="flat" cmpd="sng" algn="ctr">
                <a:noFill/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1BD462F-E875-920E-0962-D06BA413DBD7}"/>
                  </a:ext>
                </a:extLst>
              </p:cNvPr>
              <p:cNvSpPr/>
              <p:nvPr/>
            </p:nvSpPr>
            <p:spPr>
              <a:xfrm>
                <a:off x="317500" y="3937000"/>
                <a:ext cx="5842000" cy="355600"/>
              </a:xfrm>
              <a:prstGeom prst="rect">
                <a:avLst/>
              </a:prstGeom>
              <a:solidFill>
                <a:srgbClr val="F2F6FA"/>
              </a:solidFill>
              <a:ln w="9525" cap="flat" cmpd="sng" algn="ctr">
                <a:noFill/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AC03D39-DF63-1CB0-3230-BB0354275A09}"/>
                  </a:ext>
                </a:extLst>
              </p:cNvPr>
              <p:cNvSpPr/>
              <p:nvPr/>
            </p:nvSpPr>
            <p:spPr>
              <a:xfrm>
                <a:off x="317500" y="4292600"/>
                <a:ext cx="5842000" cy="355600"/>
              </a:xfrm>
              <a:prstGeom prst="rect">
                <a:avLst/>
              </a:prstGeom>
              <a:solidFill>
                <a:srgbClr val="FFFFFF"/>
              </a:solidFill>
              <a:ln w="9525" cap="flat" cmpd="sng" algn="ctr">
                <a:noFill/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C0EB347-204F-0F90-5445-076BB47287B4}"/>
                  </a:ext>
                </a:extLst>
              </p:cNvPr>
              <p:cNvSpPr/>
              <p:nvPr/>
            </p:nvSpPr>
            <p:spPr>
              <a:xfrm>
                <a:off x="317500" y="4648200"/>
                <a:ext cx="5842000" cy="355600"/>
              </a:xfrm>
              <a:prstGeom prst="rect">
                <a:avLst/>
              </a:prstGeom>
              <a:solidFill>
                <a:srgbClr val="F2F6FA"/>
              </a:solidFill>
              <a:ln w="9525" cap="flat" cmpd="sng" algn="ctr">
                <a:noFill/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35C8AC7-B67C-61E0-DBFD-1A75FBBA5FDF}"/>
                  </a:ext>
                </a:extLst>
              </p:cNvPr>
              <p:cNvSpPr/>
              <p:nvPr/>
            </p:nvSpPr>
            <p:spPr>
              <a:xfrm>
                <a:off x="317500" y="5003800"/>
                <a:ext cx="5842000" cy="355600"/>
              </a:xfrm>
              <a:prstGeom prst="rect">
                <a:avLst/>
              </a:prstGeom>
              <a:solidFill>
                <a:srgbClr val="D6E4F0"/>
              </a:solidFill>
              <a:ln w="9525" cap="flat" cmpd="sng" algn="ctr">
                <a:noFill/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US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B38EB2E-FE70-7968-AEE8-9A78A78C7E17}"/>
                  </a:ext>
                </a:extLst>
              </p:cNvPr>
              <p:cNvSpPr txBox="1"/>
              <p:nvPr/>
            </p:nvSpPr>
            <p:spPr>
              <a:xfrm>
                <a:off x="381000" y="1092200"/>
                <a:ext cx="3175000" cy="355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1400" b="1">
                    <a:solidFill>
                      <a:srgbClr val="FFFFFF"/>
                    </a:solidFill>
                    <a:latin typeface="Calibri"/>
                    <a:cs typeface="Calibri"/>
                  </a:rPr>
                  <a:t>Loan Status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AD59F42-BE36-7D7D-4E11-8C4F2BD147B0}"/>
                  </a:ext>
                </a:extLst>
              </p:cNvPr>
              <p:cNvSpPr txBox="1"/>
              <p:nvPr/>
            </p:nvSpPr>
            <p:spPr>
              <a:xfrm>
                <a:off x="3683000" y="1092200"/>
                <a:ext cx="1270000" cy="355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1400" b="1">
                    <a:solidFill>
                      <a:srgbClr val="FFFFFF"/>
                    </a:solidFill>
                    <a:latin typeface="Calibri"/>
                    <a:cs typeface="Calibri"/>
                  </a:rPr>
                  <a:t>Count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1A7BA05-8563-3C2C-53FF-FFAA74AE906E}"/>
                  </a:ext>
                </a:extLst>
              </p:cNvPr>
              <p:cNvSpPr txBox="1"/>
              <p:nvPr/>
            </p:nvSpPr>
            <p:spPr>
              <a:xfrm>
                <a:off x="5080000" y="1092200"/>
                <a:ext cx="1016000" cy="355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1400" b="1">
                    <a:solidFill>
                      <a:srgbClr val="FFFFFF"/>
                    </a:solidFill>
                    <a:latin typeface="Calibri"/>
                    <a:cs typeface="Calibri"/>
                  </a:rPr>
                  <a:t>Share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CF4F8DB-930B-CDAC-D1FF-09DDA3698FA2}"/>
                  </a:ext>
                </a:extLst>
              </p:cNvPr>
              <p:cNvSpPr txBox="1"/>
              <p:nvPr/>
            </p:nvSpPr>
            <p:spPr>
              <a:xfrm>
                <a:off x="381000" y="1447800"/>
                <a:ext cx="3175000" cy="355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1400">
                    <a:solidFill>
                      <a:srgbClr val="333333"/>
                    </a:solidFill>
                    <a:latin typeface="Calibri"/>
                    <a:cs typeface="Calibri"/>
                  </a:rPr>
                  <a:t>Fully Paid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6C4E01E-45C8-85E9-6B04-89ED8A028DC3}"/>
                  </a:ext>
                </a:extLst>
              </p:cNvPr>
              <p:cNvSpPr txBox="1"/>
              <p:nvPr/>
            </p:nvSpPr>
            <p:spPr>
              <a:xfrm>
                <a:off x="3683000" y="1447800"/>
                <a:ext cx="1270000" cy="355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1400">
                    <a:solidFill>
                      <a:srgbClr val="333333"/>
                    </a:solidFill>
                    <a:latin typeface="Calibri"/>
                    <a:cs typeface="Calibri"/>
                  </a:rPr>
                  <a:t>1,497,783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AE2E51D-B51B-8FF8-2F48-66F0088175C0}"/>
                  </a:ext>
                </a:extLst>
              </p:cNvPr>
              <p:cNvSpPr txBox="1"/>
              <p:nvPr/>
            </p:nvSpPr>
            <p:spPr>
              <a:xfrm>
                <a:off x="5080000" y="1447800"/>
                <a:ext cx="1016000" cy="355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1400">
                    <a:solidFill>
                      <a:srgbClr val="333333"/>
                    </a:solidFill>
                    <a:latin typeface="Calibri"/>
                    <a:cs typeface="Calibri"/>
                  </a:rPr>
                  <a:t>51.2%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FED42B0-B952-3E6C-D4B0-E852BA77439A}"/>
                  </a:ext>
                </a:extLst>
              </p:cNvPr>
              <p:cNvSpPr txBox="1"/>
              <p:nvPr/>
            </p:nvSpPr>
            <p:spPr>
              <a:xfrm>
                <a:off x="381000" y="1803400"/>
                <a:ext cx="3175000" cy="355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1400">
                    <a:solidFill>
                      <a:srgbClr val="333333"/>
                    </a:solidFill>
                    <a:latin typeface="Calibri"/>
                    <a:cs typeface="Calibri"/>
                  </a:rPr>
                  <a:t>Current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3B415A3-63EF-EED1-8E7A-6F304F2A7BAC}"/>
                  </a:ext>
                </a:extLst>
              </p:cNvPr>
              <p:cNvSpPr txBox="1"/>
              <p:nvPr/>
            </p:nvSpPr>
            <p:spPr>
              <a:xfrm>
                <a:off x="3683000" y="1803400"/>
                <a:ext cx="1270000" cy="355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1400">
                    <a:solidFill>
                      <a:srgbClr val="333333"/>
                    </a:solidFill>
                    <a:latin typeface="Calibri"/>
                    <a:cs typeface="Calibri"/>
                  </a:rPr>
                  <a:t>1,031,016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102BA42-4357-4B63-5A07-5D646C4E0361}"/>
                  </a:ext>
                </a:extLst>
              </p:cNvPr>
              <p:cNvSpPr txBox="1"/>
              <p:nvPr/>
            </p:nvSpPr>
            <p:spPr>
              <a:xfrm>
                <a:off x="5080000" y="1803400"/>
                <a:ext cx="1016000" cy="355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1400">
                    <a:solidFill>
                      <a:srgbClr val="333333"/>
                    </a:solidFill>
                    <a:latin typeface="Calibri"/>
                    <a:cs typeface="Calibri"/>
                  </a:rPr>
                  <a:t>35.2%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2A48783-5EF2-1F0B-BE93-214F205BC7F7}"/>
                  </a:ext>
                </a:extLst>
              </p:cNvPr>
              <p:cNvSpPr txBox="1"/>
              <p:nvPr/>
            </p:nvSpPr>
            <p:spPr>
              <a:xfrm>
                <a:off x="381000" y="2159000"/>
                <a:ext cx="3175000" cy="355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1400">
                    <a:solidFill>
                      <a:srgbClr val="333333"/>
                    </a:solidFill>
                    <a:latin typeface="Calibri"/>
                    <a:cs typeface="Calibri"/>
                  </a:rPr>
                  <a:t>Charged Off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3546DE0-B117-B4FD-6DDA-784222172594}"/>
                  </a:ext>
                </a:extLst>
              </p:cNvPr>
              <p:cNvSpPr txBox="1"/>
              <p:nvPr/>
            </p:nvSpPr>
            <p:spPr>
              <a:xfrm>
                <a:off x="3683000" y="2159000"/>
                <a:ext cx="1270000" cy="355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1400">
                    <a:solidFill>
                      <a:srgbClr val="333333"/>
                    </a:solidFill>
                    <a:latin typeface="Calibri"/>
                    <a:cs typeface="Calibri"/>
                  </a:rPr>
                  <a:t>362,548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9A53EC2-8027-E051-EAA2-C20CC1EF1772}"/>
                  </a:ext>
                </a:extLst>
              </p:cNvPr>
              <p:cNvSpPr txBox="1"/>
              <p:nvPr/>
            </p:nvSpPr>
            <p:spPr>
              <a:xfrm>
                <a:off x="5080000" y="2159000"/>
                <a:ext cx="1016000" cy="355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1400">
                    <a:solidFill>
                      <a:srgbClr val="333333"/>
                    </a:solidFill>
                    <a:latin typeface="Calibri"/>
                    <a:cs typeface="Calibri"/>
                  </a:rPr>
                  <a:t>12.4%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7B76302-C684-951C-749C-59F634798238}"/>
                  </a:ext>
                </a:extLst>
              </p:cNvPr>
              <p:cNvSpPr txBox="1"/>
              <p:nvPr/>
            </p:nvSpPr>
            <p:spPr>
              <a:xfrm>
                <a:off x="381000" y="2514600"/>
                <a:ext cx="3175000" cy="355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1400">
                    <a:solidFill>
                      <a:srgbClr val="333333"/>
                    </a:solidFill>
                    <a:latin typeface="Calibri"/>
                    <a:cs typeface="Calibri"/>
                  </a:rPr>
                  <a:t>Late (31-120 days)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AEDB639-DCA8-9EE3-8466-87303E8179E1}"/>
                  </a:ext>
                </a:extLst>
              </p:cNvPr>
              <p:cNvSpPr txBox="1"/>
              <p:nvPr/>
            </p:nvSpPr>
            <p:spPr>
              <a:xfrm>
                <a:off x="3683000" y="2514600"/>
                <a:ext cx="1270000" cy="355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1400">
                    <a:solidFill>
                      <a:srgbClr val="333333"/>
                    </a:solidFill>
                    <a:latin typeface="Calibri"/>
                    <a:cs typeface="Calibri"/>
                  </a:rPr>
                  <a:t>16,154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22D7256-7371-ED31-D422-3EA351D61A99}"/>
                  </a:ext>
                </a:extLst>
              </p:cNvPr>
              <p:cNvSpPr txBox="1"/>
              <p:nvPr/>
            </p:nvSpPr>
            <p:spPr>
              <a:xfrm>
                <a:off x="5080000" y="2514600"/>
                <a:ext cx="1016000" cy="355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1400">
                    <a:solidFill>
                      <a:srgbClr val="333333"/>
                    </a:solidFill>
                    <a:latin typeface="Calibri"/>
                    <a:cs typeface="Calibri"/>
                  </a:rPr>
                  <a:t>0.6%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4DD082C-182F-B5AE-A636-F50FF0B34612}"/>
                  </a:ext>
                </a:extLst>
              </p:cNvPr>
              <p:cNvSpPr txBox="1"/>
              <p:nvPr/>
            </p:nvSpPr>
            <p:spPr>
              <a:xfrm>
                <a:off x="381000" y="2870200"/>
                <a:ext cx="3175000" cy="355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1400">
                    <a:solidFill>
                      <a:srgbClr val="333333"/>
                    </a:solidFill>
                    <a:latin typeface="Calibri"/>
                    <a:cs typeface="Calibri"/>
                  </a:rPr>
                  <a:t>In Grace Period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CB95EAF-4785-0169-174A-E3E516BDFD77}"/>
                  </a:ext>
                </a:extLst>
              </p:cNvPr>
              <p:cNvSpPr txBox="1"/>
              <p:nvPr/>
            </p:nvSpPr>
            <p:spPr>
              <a:xfrm>
                <a:off x="3683000" y="2870200"/>
                <a:ext cx="1270000" cy="355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1400">
                    <a:solidFill>
                      <a:srgbClr val="333333"/>
                    </a:solidFill>
                    <a:latin typeface="Calibri"/>
                    <a:cs typeface="Calibri"/>
                  </a:rPr>
                  <a:t>10,028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DE535E6-EC7D-35F7-442C-99DA1338E62B}"/>
                  </a:ext>
                </a:extLst>
              </p:cNvPr>
              <p:cNvSpPr txBox="1"/>
              <p:nvPr/>
            </p:nvSpPr>
            <p:spPr>
              <a:xfrm>
                <a:off x="5080000" y="2870200"/>
                <a:ext cx="1016000" cy="355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1400">
                    <a:solidFill>
                      <a:srgbClr val="333333"/>
                    </a:solidFill>
                    <a:latin typeface="Calibri"/>
                    <a:cs typeface="Calibri"/>
                  </a:rPr>
                  <a:t>0.3%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95C30C1-6813-2ABA-CCEB-301891420ECA}"/>
                  </a:ext>
                </a:extLst>
              </p:cNvPr>
              <p:cNvSpPr txBox="1"/>
              <p:nvPr/>
            </p:nvSpPr>
            <p:spPr>
              <a:xfrm>
                <a:off x="381000" y="3225800"/>
                <a:ext cx="3175000" cy="355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1400">
                    <a:solidFill>
                      <a:srgbClr val="333333"/>
                    </a:solidFill>
                    <a:latin typeface="Calibri"/>
                    <a:cs typeface="Calibri"/>
                  </a:rPr>
                  <a:t>Late (16-30 days)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B330671-2085-24ED-8746-B5BEF24BC58C}"/>
                  </a:ext>
                </a:extLst>
              </p:cNvPr>
              <p:cNvSpPr txBox="1"/>
              <p:nvPr/>
            </p:nvSpPr>
            <p:spPr>
              <a:xfrm>
                <a:off x="3683000" y="3225800"/>
                <a:ext cx="1270000" cy="355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1400">
                    <a:solidFill>
                      <a:srgbClr val="333333"/>
                    </a:solidFill>
                    <a:latin typeface="Calibri"/>
                    <a:cs typeface="Calibri"/>
                  </a:rPr>
                  <a:t>2,719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88D86CA-7023-3188-F943-EA4D96AEE742}"/>
                  </a:ext>
                </a:extLst>
              </p:cNvPr>
              <p:cNvSpPr txBox="1"/>
              <p:nvPr/>
            </p:nvSpPr>
            <p:spPr>
              <a:xfrm>
                <a:off x="5080000" y="3225800"/>
                <a:ext cx="1016000" cy="355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libri"/>
                    <a:cs typeface="Calibri"/>
                  </a:rPr>
                  <a:t>0.1%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4E85793-6D82-83DF-40DB-A8C6DD7FED50}"/>
                  </a:ext>
                </a:extLst>
              </p:cNvPr>
              <p:cNvSpPr txBox="1"/>
              <p:nvPr/>
            </p:nvSpPr>
            <p:spPr>
              <a:xfrm>
                <a:off x="381000" y="3581400"/>
                <a:ext cx="3175000" cy="355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1400">
                    <a:solidFill>
                      <a:srgbClr val="333333"/>
                    </a:solidFill>
                    <a:latin typeface="Calibri"/>
                    <a:cs typeface="Calibri"/>
                  </a:rPr>
                  <a:t>Issued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80C1DF8-637F-EBBE-D5B3-4368F6833F5F}"/>
                  </a:ext>
                </a:extLst>
              </p:cNvPr>
              <p:cNvSpPr txBox="1"/>
              <p:nvPr/>
            </p:nvSpPr>
            <p:spPr>
              <a:xfrm>
                <a:off x="3683000" y="3581400"/>
                <a:ext cx="1270000" cy="355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1400">
                    <a:solidFill>
                      <a:srgbClr val="333333"/>
                    </a:solidFill>
                    <a:latin typeface="Calibri"/>
                    <a:cs typeface="Calibri"/>
                  </a:rPr>
                  <a:t>2,062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3046ED9-2A9D-BFA9-3193-D73033CD839A}"/>
                  </a:ext>
                </a:extLst>
              </p:cNvPr>
              <p:cNvSpPr txBox="1"/>
              <p:nvPr/>
            </p:nvSpPr>
            <p:spPr>
              <a:xfrm>
                <a:off x="5080000" y="3581400"/>
                <a:ext cx="1016000" cy="355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1400">
                    <a:solidFill>
                      <a:srgbClr val="333333"/>
                    </a:solidFill>
                    <a:latin typeface="Calibri"/>
                    <a:cs typeface="Calibri"/>
                  </a:rPr>
                  <a:t>0.1%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593A332-5366-3D5C-92A0-94FF0C356F3D}"/>
                  </a:ext>
                </a:extLst>
              </p:cNvPr>
              <p:cNvSpPr txBox="1"/>
              <p:nvPr/>
            </p:nvSpPr>
            <p:spPr>
              <a:xfrm>
                <a:off x="381000" y="3937000"/>
                <a:ext cx="3175000" cy="355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1400">
                    <a:solidFill>
                      <a:srgbClr val="333333"/>
                    </a:solidFill>
                    <a:latin typeface="Calibri"/>
                    <a:cs typeface="Calibri"/>
                  </a:rPr>
                  <a:t>Credit policy: Fully Paid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F6DBB8B-47A9-99BF-48E0-AFC5D70B5B65}"/>
                  </a:ext>
                </a:extLst>
              </p:cNvPr>
              <p:cNvSpPr txBox="1"/>
              <p:nvPr/>
            </p:nvSpPr>
            <p:spPr>
              <a:xfrm>
                <a:off x="3683000" y="3937000"/>
                <a:ext cx="1270000" cy="355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1400">
                    <a:solidFill>
                      <a:srgbClr val="333333"/>
                    </a:solidFill>
                    <a:latin typeface="Calibri"/>
                    <a:cs typeface="Calibri"/>
                  </a:rPr>
                  <a:t>1,988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0D7953C-B736-06A8-AF02-8E403210E29E}"/>
                  </a:ext>
                </a:extLst>
              </p:cNvPr>
              <p:cNvSpPr txBox="1"/>
              <p:nvPr/>
            </p:nvSpPr>
            <p:spPr>
              <a:xfrm>
                <a:off x="5080000" y="3937000"/>
                <a:ext cx="1016000" cy="355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1400">
                    <a:solidFill>
                      <a:srgbClr val="333333"/>
                    </a:solidFill>
                    <a:latin typeface="Calibri"/>
                    <a:cs typeface="Calibri"/>
                  </a:rPr>
                  <a:t>0.1%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CD78547-DBFD-829E-140C-A7B55FD8E40B}"/>
                  </a:ext>
                </a:extLst>
              </p:cNvPr>
              <p:cNvSpPr txBox="1"/>
              <p:nvPr/>
            </p:nvSpPr>
            <p:spPr>
              <a:xfrm>
                <a:off x="381000" y="4292600"/>
                <a:ext cx="3175000" cy="355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1400">
                    <a:solidFill>
                      <a:srgbClr val="333333"/>
                    </a:solidFill>
                    <a:latin typeface="Calibri"/>
                    <a:cs typeface="Calibri"/>
                  </a:rPr>
                  <a:t>Credit policy: Charged Off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604400F-F431-6387-1102-AF0678C04392}"/>
                  </a:ext>
                </a:extLst>
              </p:cNvPr>
              <p:cNvSpPr txBox="1"/>
              <p:nvPr/>
            </p:nvSpPr>
            <p:spPr>
              <a:xfrm>
                <a:off x="3683000" y="4292600"/>
                <a:ext cx="1270000" cy="355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1400">
                    <a:solidFill>
                      <a:srgbClr val="333333"/>
                    </a:solidFill>
                    <a:latin typeface="Calibri"/>
                    <a:cs typeface="Calibri"/>
                  </a:rPr>
                  <a:t>761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A6398019-5AB3-2351-C489-66F9073255A1}"/>
                  </a:ext>
                </a:extLst>
              </p:cNvPr>
              <p:cNvSpPr txBox="1"/>
              <p:nvPr/>
            </p:nvSpPr>
            <p:spPr>
              <a:xfrm>
                <a:off x="5080000" y="4292600"/>
                <a:ext cx="1016000" cy="355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1400">
                    <a:solidFill>
                      <a:srgbClr val="333333"/>
                    </a:solidFill>
                    <a:latin typeface="Calibri"/>
                    <a:cs typeface="Calibri"/>
                  </a:rPr>
                  <a:t>0.0%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B896DA0-2B0F-6204-BDCF-E66A8D9F38C9}"/>
                  </a:ext>
                </a:extLst>
              </p:cNvPr>
              <p:cNvSpPr txBox="1"/>
              <p:nvPr/>
            </p:nvSpPr>
            <p:spPr>
              <a:xfrm>
                <a:off x="381000" y="4648200"/>
                <a:ext cx="3175000" cy="355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1400">
                    <a:solidFill>
                      <a:srgbClr val="333333"/>
                    </a:solidFill>
                    <a:latin typeface="Calibri"/>
                    <a:cs typeface="Calibri"/>
                  </a:rPr>
                  <a:t>Default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1A03649-D0B2-5AB3-4835-B7DC161C3329}"/>
                  </a:ext>
                </a:extLst>
              </p:cNvPr>
              <p:cNvSpPr txBox="1"/>
              <p:nvPr/>
            </p:nvSpPr>
            <p:spPr>
              <a:xfrm>
                <a:off x="3683000" y="4648200"/>
                <a:ext cx="1270000" cy="355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1400">
                    <a:solidFill>
                      <a:srgbClr val="333333"/>
                    </a:solidFill>
                    <a:latin typeface="Calibri"/>
                    <a:cs typeface="Calibri"/>
                  </a:rPr>
                  <a:t>433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29AC015-73AB-8C71-6D01-925D284C572F}"/>
                  </a:ext>
                </a:extLst>
              </p:cNvPr>
              <p:cNvSpPr txBox="1"/>
              <p:nvPr/>
            </p:nvSpPr>
            <p:spPr>
              <a:xfrm>
                <a:off x="5080000" y="4648200"/>
                <a:ext cx="1016000" cy="355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libri"/>
                    <a:cs typeface="Calibri"/>
                  </a:rPr>
                  <a:t>0.0%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E338C3D-622C-4383-C525-9100E6FE4D95}"/>
                  </a:ext>
                </a:extLst>
              </p:cNvPr>
              <p:cNvSpPr txBox="1"/>
              <p:nvPr/>
            </p:nvSpPr>
            <p:spPr>
              <a:xfrm>
                <a:off x="381000" y="5003800"/>
                <a:ext cx="3175000" cy="355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1400" b="1">
                    <a:solidFill>
                      <a:srgbClr val="2B4C7E"/>
                    </a:solidFill>
                    <a:latin typeface="Calibri"/>
                    <a:cs typeface="Calibri"/>
                  </a:rPr>
                  <a:t>Total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607273B-B64C-23EE-E3EE-3FCA2F9E8F4A}"/>
                  </a:ext>
                </a:extLst>
              </p:cNvPr>
              <p:cNvSpPr txBox="1"/>
              <p:nvPr/>
            </p:nvSpPr>
            <p:spPr>
              <a:xfrm>
                <a:off x="3683000" y="5003800"/>
                <a:ext cx="1270000" cy="355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1400" b="1">
                    <a:solidFill>
                      <a:srgbClr val="2B4C7E"/>
                    </a:solidFill>
                    <a:latin typeface="Calibri"/>
                    <a:cs typeface="Calibri"/>
                  </a:rPr>
                  <a:t>2,925,493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FE0709C-748C-891A-B387-DFD4A599DB7F}"/>
                  </a:ext>
                </a:extLst>
              </p:cNvPr>
              <p:cNvSpPr txBox="1"/>
              <p:nvPr/>
            </p:nvSpPr>
            <p:spPr>
              <a:xfrm>
                <a:off x="5080000" y="5003800"/>
                <a:ext cx="1016000" cy="355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1400" b="1">
                    <a:solidFill>
                      <a:srgbClr val="2B4C7E"/>
                    </a:solidFill>
                    <a:latin typeface="Calibri"/>
                    <a:cs typeface="Calibri"/>
                  </a:rPr>
                  <a:t>100%</a:t>
                </a: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472EFA33-9174-9E68-CED8-AF700771481D}"/>
                  </a:ext>
                </a:extLst>
              </p:cNvPr>
              <p:cNvSpPr/>
              <p:nvPr/>
            </p:nvSpPr>
            <p:spPr>
              <a:xfrm>
                <a:off x="317500" y="1092200"/>
                <a:ext cx="5842000" cy="4267200"/>
              </a:xfrm>
              <a:prstGeom prst="rect">
                <a:avLst/>
              </a:prstGeom>
              <a:noFill/>
              <a:ln w="12700" cap="flat" cmpd="sng" algn="ctr">
                <a:solidFill>
                  <a:srgbClr val="BDC3C7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US"/>
              </a:p>
            </p:txBody>
          </p: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4CA0333-E702-B343-3095-173CC574A6D6}"/>
                </a:ext>
              </a:extLst>
            </p:cNvPr>
            <p:cNvSpPr/>
            <p:nvPr/>
          </p:nvSpPr>
          <p:spPr>
            <a:xfrm>
              <a:off x="291179" y="1447800"/>
              <a:ext cx="5900420" cy="355600"/>
            </a:xfrm>
            <a:prstGeom prst="rect">
              <a:avLst/>
            </a:prstGeom>
            <a:noFill/>
            <a:ln w="381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FA1C8A4-842A-4124-F370-81DF1D6FC920}"/>
                </a:ext>
              </a:extLst>
            </p:cNvPr>
            <p:cNvSpPr/>
            <p:nvPr/>
          </p:nvSpPr>
          <p:spPr>
            <a:xfrm>
              <a:off x="300415" y="2159000"/>
              <a:ext cx="5900420" cy="355600"/>
            </a:xfrm>
            <a:prstGeom prst="rect">
              <a:avLst/>
            </a:prstGeom>
            <a:noFill/>
            <a:ln w="381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1" name="Picture 70" descr="volume_by_year.png">
            <a:extLst>
              <a:ext uri="{FF2B5EF4-FFF2-40B4-BE49-F238E27FC236}">
                <a16:creationId xmlns:a16="http://schemas.microsoft.com/office/drawing/2014/main" id="{D0D9B2D9-094C-9FF7-BA0C-458A19BAF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1106" y="4490646"/>
            <a:ext cx="3752491" cy="1966951"/>
          </a:xfrm>
          <a:prstGeom prst="rect">
            <a:avLst/>
          </a:prstGeom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64B4B043-FDCF-3F80-8232-31417D4976EB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030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2080" y="196848"/>
            <a:ext cx="11493852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200" b="1" dirty="0">
                <a:solidFill>
                  <a:srgbClr val="0A0E27"/>
                </a:solidFill>
                <a:latin typeface="Century Gothic"/>
                <a:cs typeface="Segoe UI Semibold"/>
              </a:rPr>
              <a:t>Loaded 25 columns; Examined 8 in depth based on domain knowledge and scope</a:t>
            </a:r>
          </a:p>
          <a:p>
            <a:r>
              <a:rPr lang="en-US" sz="1400" b="1" dirty="0">
                <a:solidFill>
                  <a:srgbClr val="0A0E27"/>
                </a:solidFill>
                <a:latin typeface="Century Gothic"/>
                <a:cs typeface="Segoe UI"/>
              </a:rPr>
              <a:t>Scope: Origination-time features only; No post-loan data leakage</a:t>
            </a:r>
          </a:p>
          <a:p>
            <a:endParaRPr sz="2200" b="1" dirty="0">
              <a:solidFill>
                <a:srgbClr val="0A0E27"/>
              </a:solidFill>
              <a:latin typeface="Century Gothic"/>
              <a:cs typeface="Segoe UI Semibold"/>
            </a:endParaRPr>
          </a:p>
        </p:txBody>
      </p:sp>
      <p:pic>
        <p:nvPicPr>
          <p:cNvPr id="66" name="Picture 65" descr="A graph with a red line&#10;&#10;Description automatically generated">
            <a:extLst>
              <a:ext uri="{FF2B5EF4-FFF2-40B4-BE49-F238E27FC236}">
                <a16:creationId xmlns:a16="http://schemas.microsoft.com/office/drawing/2014/main" id="{222C5E6F-8B36-488E-E625-76BCC9FFF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2538" y="4695899"/>
            <a:ext cx="2030139" cy="1682115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DDC8EAE1-A8FC-2660-090E-387C734EEE2A}"/>
              </a:ext>
            </a:extLst>
          </p:cNvPr>
          <p:cNvSpPr/>
          <p:nvPr/>
        </p:nvSpPr>
        <p:spPr>
          <a:xfrm>
            <a:off x="146047" y="1151088"/>
            <a:ext cx="5542964" cy="320572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4" name="Picture 73" descr="A graph with a red line&#10;&#10;Description automatically generated">
            <a:extLst>
              <a:ext uri="{FF2B5EF4-FFF2-40B4-BE49-F238E27FC236}">
                <a16:creationId xmlns:a16="http://schemas.microsoft.com/office/drawing/2014/main" id="{906E7E9B-56F0-39C9-4CC9-FEF24947D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679" y="4668497"/>
            <a:ext cx="3441159" cy="1691418"/>
          </a:xfrm>
          <a:prstGeom prst="rect">
            <a:avLst/>
          </a:prstGeom>
        </p:spPr>
      </p:pic>
      <p:pic>
        <p:nvPicPr>
          <p:cNvPr id="76" name="Picture 75" descr="A graph with red line and white lines&#10;&#10;Description automatically generated">
            <a:extLst>
              <a:ext uri="{FF2B5EF4-FFF2-40B4-BE49-F238E27FC236}">
                <a16:creationId xmlns:a16="http://schemas.microsoft.com/office/drawing/2014/main" id="{AFF36990-ABDC-0B46-686C-0619EBA631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8870" y="4714585"/>
            <a:ext cx="4185943" cy="1709751"/>
          </a:xfrm>
          <a:prstGeom prst="rect">
            <a:avLst/>
          </a:prstGeom>
        </p:spPr>
      </p:pic>
      <p:pic>
        <p:nvPicPr>
          <p:cNvPr id="80" name="Picture 79" descr="A graph with a red line pointing to the rate&#10;&#10;Description automatically generated">
            <a:extLst>
              <a:ext uri="{FF2B5EF4-FFF2-40B4-BE49-F238E27FC236}">
                <a16:creationId xmlns:a16="http://schemas.microsoft.com/office/drawing/2014/main" id="{CDF7D0BD-81D3-5BCB-D526-305E57708F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6888" y="4714585"/>
            <a:ext cx="2030139" cy="1682115"/>
          </a:xfrm>
          <a:prstGeom prst="rect">
            <a:avLst/>
          </a:prstGeom>
        </p:spPr>
      </p:pic>
      <p:grpSp>
        <p:nvGrpSpPr>
          <p:cNvPr id="88" name="Group 87">
            <a:extLst>
              <a:ext uri="{FF2B5EF4-FFF2-40B4-BE49-F238E27FC236}">
                <a16:creationId xmlns:a16="http://schemas.microsoft.com/office/drawing/2014/main" id="{6C697811-E701-7242-E7CA-1EE2D418A031}"/>
              </a:ext>
            </a:extLst>
          </p:cNvPr>
          <p:cNvGrpSpPr/>
          <p:nvPr/>
        </p:nvGrpSpPr>
        <p:grpSpPr>
          <a:xfrm>
            <a:off x="5785278" y="1115051"/>
            <a:ext cx="3100983" cy="3241763"/>
            <a:chOff x="5313715" y="1046154"/>
            <a:chExt cx="3358231" cy="3510690"/>
          </a:xfrm>
        </p:grpSpPr>
        <p:pic>
          <p:nvPicPr>
            <p:cNvPr id="70" name="Picture 69" descr="A graph with a red line&#10;&#10;Description automatically generated">
              <a:extLst>
                <a:ext uri="{FF2B5EF4-FFF2-40B4-BE49-F238E27FC236}">
                  <a16:creationId xmlns:a16="http://schemas.microsoft.com/office/drawing/2014/main" id="{0E3107ED-1DBC-3F72-1DBC-4D36A2187AC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353581" y="1046154"/>
              <a:ext cx="3277140" cy="1610798"/>
            </a:xfrm>
            <a:prstGeom prst="rect">
              <a:avLst/>
            </a:prstGeom>
          </p:spPr>
        </p:pic>
        <p:pic>
          <p:nvPicPr>
            <p:cNvPr id="72" name="Picture 71" descr="A graph with a red line&#10;&#10;Description automatically generated">
              <a:extLst>
                <a:ext uri="{FF2B5EF4-FFF2-40B4-BE49-F238E27FC236}">
                  <a16:creationId xmlns:a16="http://schemas.microsoft.com/office/drawing/2014/main" id="{48F7A71A-6302-04B3-8460-DDC61510573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53581" y="2819307"/>
              <a:ext cx="3277140" cy="1610798"/>
            </a:xfrm>
            <a:prstGeom prst="rect">
              <a:avLst/>
            </a:prstGeom>
          </p:spPr>
        </p:pic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2E50DDCB-EBF2-76DB-D7B1-B2487AA0E5EB}"/>
                </a:ext>
              </a:extLst>
            </p:cNvPr>
            <p:cNvSpPr/>
            <p:nvPr/>
          </p:nvSpPr>
          <p:spPr>
            <a:xfrm>
              <a:off x="5313715" y="1085181"/>
              <a:ext cx="3358231" cy="3471663"/>
            </a:xfrm>
            <a:prstGeom prst="rect">
              <a:avLst/>
            </a:prstGeom>
            <a:noFill/>
            <a:ln w="12700" cap="flat" cmpd="sng" algn="ctr">
              <a:solidFill>
                <a:schemeClr val="accent2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0CA84EF-00C3-1D8B-7FA5-5937A0E928E0}"/>
              </a:ext>
            </a:extLst>
          </p:cNvPr>
          <p:cNvGrpSpPr/>
          <p:nvPr/>
        </p:nvGrpSpPr>
        <p:grpSpPr>
          <a:xfrm>
            <a:off x="8998328" y="1115052"/>
            <a:ext cx="3100983" cy="3241762"/>
            <a:chOff x="8741080" y="1046154"/>
            <a:chExt cx="3358231" cy="3510689"/>
          </a:xfrm>
        </p:grpSpPr>
        <p:pic>
          <p:nvPicPr>
            <p:cNvPr id="68" name="Picture 67" descr="A graph with a red line&#10;&#10;Description automatically generated">
              <a:extLst>
                <a:ext uri="{FF2B5EF4-FFF2-40B4-BE49-F238E27FC236}">
                  <a16:creationId xmlns:a16="http://schemas.microsoft.com/office/drawing/2014/main" id="{FE6E51F0-F252-70C1-9C13-D9D95DDC6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801836" y="1046154"/>
              <a:ext cx="3277140" cy="1610798"/>
            </a:xfrm>
            <a:prstGeom prst="rect">
              <a:avLst/>
            </a:prstGeom>
          </p:spPr>
        </p:pic>
        <p:pic>
          <p:nvPicPr>
            <p:cNvPr id="78" name="Picture 77" descr="A graph with a red line going up&#10;&#10;Description automatically generated">
              <a:extLst>
                <a:ext uri="{FF2B5EF4-FFF2-40B4-BE49-F238E27FC236}">
                  <a16:creationId xmlns:a16="http://schemas.microsoft.com/office/drawing/2014/main" id="{8BC39B29-386C-2950-7C6D-CA52098FE2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820193" y="2832046"/>
              <a:ext cx="3277140" cy="1610798"/>
            </a:xfrm>
            <a:prstGeom prst="rect">
              <a:avLst/>
            </a:prstGeom>
          </p:spPr>
        </p:pic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FD862690-1A5D-B3D7-6B08-8354CBD84D83}"/>
                </a:ext>
              </a:extLst>
            </p:cNvPr>
            <p:cNvSpPr/>
            <p:nvPr/>
          </p:nvSpPr>
          <p:spPr>
            <a:xfrm>
              <a:off x="8741080" y="1085180"/>
              <a:ext cx="3358231" cy="3471663"/>
            </a:xfrm>
            <a:prstGeom prst="rect">
              <a:avLst/>
            </a:prstGeom>
            <a:noFill/>
            <a:ln w="12700" cap="flat" cmpd="sng" algn="ctr">
              <a:solidFill>
                <a:schemeClr val="accent2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3" name="Rectangle 82">
            <a:extLst>
              <a:ext uri="{FF2B5EF4-FFF2-40B4-BE49-F238E27FC236}">
                <a16:creationId xmlns:a16="http://schemas.microsoft.com/office/drawing/2014/main" id="{24CAD532-7E08-1657-FD9D-13EDB931070A}"/>
              </a:ext>
            </a:extLst>
          </p:cNvPr>
          <p:cNvSpPr/>
          <p:nvPr/>
        </p:nvSpPr>
        <p:spPr>
          <a:xfrm>
            <a:off x="5778209" y="4655541"/>
            <a:ext cx="6329343" cy="1709751"/>
          </a:xfrm>
          <a:prstGeom prst="rect">
            <a:avLst/>
          </a:prstGeom>
          <a:noFill/>
          <a:ln w="12700" cap="flat" cmpd="sng" algn="ctr">
            <a:solidFill>
              <a:schemeClr val="accent2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A19AED4-BC70-969E-B553-C3B97992EB69}"/>
              </a:ext>
            </a:extLst>
          </p:cNvPr>
          <p:cNvSpPr/>
          <p:nvPr/>
        </p:nvSpPr>
        <p:spPr>
          <a:xfrm>
            <a:off x="124688" y="4654936"/>
            <a:ext cx="5576181" cy="1766373"/>
          </a:xfrm>
          <a:prstGeom prst="rect">
            <a:avLst/>
          </a:prstGeom>
          <a:noFill/>
          <a:ln w="12700" cap="flat" cmpd="sng" algn="ctr">
            <a:solidFill>
              <a:schemeClr val="accent2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A3EE3D5-F1A6-3BAA-F4C5-B1FD856DFD9E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0FB21BD7-8DEE-FDFB-81AA-5B8830A1C35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4928" y="2423296"/>
            <a:ext cx="5434556" cy="1841500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25D0C18C-6933-2B4E-9924-6C95037002FE}"/>
              </a:ext>
            </a:extLst>
          </p:cNvPr>
          <p:cNvSpPr txBox="1"/>
          <p:nvPr/>
        </p:nvSpPr>
        <p:spPr>
          <a:xfrm>
            <a:off x="162063" y="1185195"/>
            <a:ext cx="5091501" cy="1203176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dirty="0">
                <a:latin typeface="Century Gothic"/>
              </a:rPr>
              <a:t>The analysis goal is interpretable policy rules (hard cutoffs), not a predictive ML model. The most actionable signals are: </a:t>
            </a:r>
            <a:r>
              <a:rPr lang="en-US" sz="1400" b="1" dirty="0">
                <a:solidFill>
                  <a:srgbClr val="0A0E27"/>
                </a:solidFill>
                <a:latin typeface="Century Gothic"/>
              </a:rPr>
              <a:t>Credit quality </a:t>
            </a:r>
            <a:r>
              <a:rPr lang="en-US" sz="1400" dirty="0">
                <a:solidFill>
                  <a:srgbClr val="0A0E27"/>
                </a:solidFill>
                <a:latin typeface="Century Gothic"/>
              </a:rPr>
              <a:t>(FICO, grade),</a:t>
            </a:r>
            <a:r>
              <a:rPr lang="en-US" sz="1400" b="1" dirty="0">
                <a:solidFill>
                  <a:srgbClr val="0A0E27"/>
                </a:solidFill>
                <a:latin typeface="Century Gothic"/>
              </a:rPr>
              <a:t>Leverage </a:t>
            </a:r>
            <a:r>
              <a:rPr lang="en-US" sz="1400" dirty="0">
                <a:solidFill>
                  <a:srgbClr val="0A0E27"/>
                </a:solidFill>
                <a:latin typeface="Century Gothic"/>
              </a:rPr>
              <a:t>(DTI, </a:t>
            </a:r>
            <a:r>
              <a:rPr lang="en-US" sz="1400" dirty="0" err="1">
                <a:solidFill>
                  <a:srgbClr val="0A0E27"/>
                </a:solidFill>
                <a:latin typeface="Century Gothic"/>
              </a:rPr>
              <a:t>revol_util</a:t>
            </a:r>
            <a:r>
              <a:rPr lang="en-US" sz="1400" dirty="0">
                <a:solidFill>
                  <a:srgbClr val="0A0E27"/>
                </a:solidFill>
                <a:latin typeface="Century Gothic"/>
              </a:rPr>
              <a:t>), </a:t>
            </a:r>
            <a:r>
              <a:rPr lang="en-US" sz="1400" b="1" dirty="0">
                <a:solidFill>
                  <a:srgbClr val="0A0E27"/>
                </a:solidFill>
                <a:latin typeface="Century Gothic"/>
              </a:rPr>
              <a:t>Credit history </a:t>
            </a:r>
            <a:r>
              <a:rPr lang="en-US" sz="1400" dirty="0">
                <a:solidFill>
                  <a:srgbClr val="0A0E27"/>
                </a:solidFill>
                <a:latin typeface="Century Gothic"/>
              </a:rPr>
              <a:t>(</a:t>
            </a:r>
            <a:r>
              <a:rPr lang="en-US" sz="1400" dirty="0" err="1">
                <a:solidFill>
                  <a:srgbClr val="0A0E27"/>
                </a:solidFill>
                <a:latin typeface="Century Gothic"/>
              </a:rPr>
              <a:t>pub_rec_bankruptcies</a:t>
            </a:r>
            <a:r>
              <a:rPr lang="en-US" sz="1400" dirty="0">
                <a:solidFill>
                  <a:srgbClr val="0A0E27"/>
                </a:solidFill>
                <a:latin typeface="Century Gothic"/>
              </a:rPr>
              <a:t>, Inq_last_6mths), </a:t>
            </a:r>
            <a:r>
              <a:rPr lang="en-US" sz="1400" b="1" dirty="0">
                <a:solidFill>
                  <a:srgbClr val="0A0E27"/>
                </a:solidFill>
                <a:latin typeface="Century Gothic"/>
              </a:rPr>
              <a:t>Loan structure </a:t>
            </a:r>
            <a:r>
              <a:rPr lang="en-US" sz="1400" dirty="0">
                <a:solidFill>
                  <a:srgbClr val="0A0E27"/>
                </a:solidFill>
                <a:latin typeface="Century Gothic"/>
              </a:rPr>
              <a:t>(term, purpose)</a:t>
            </a:r>
            <a:endParaRPr lang="en-US" sz="1400" dirty="0">
              <a:solidFill>
                <a:srgbClr val="64748B"/>
              </a:solidFill>
              <a:latin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3196" y="254000"/>
            <a:ext cx="788228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0A0E27"/>
                </a:solidFill>
                <a:latin typeface="Century Gothic"/>
                <a:cs typeface="Segoe UI"/>
              </a:rPr>
              <a:t>Risk Compounds: </a:t>
            </a:r>
            <a:r>
              <a:rPr lang="en-US" sz="2200" b="1" dirty="0">
                <a:solidFill>
                  <a:srgbClr val="0A0E27"/>
                </a:solidFill>
                <a:latin typeface="Century Gothic"/>
                <a:cs typeface="Segoe UI"/>
              </a:rPr>
              <a:t>risk is not additive — it multiplies.</a:t>
            </a:r>
            <a:endParaRPr sz="2200" b="1" dirty="0">
              <a:solidFill>
                <a:srgbClr val="0A0E27"/>
              </a:solidFill>
              <a:latin typeface="Century Gothic"/>
              <a:cs typeface="Segoe UI"/>
            </a:endParaRPr>
          </a:p>
          <a:p>
            <a:r>
              <a:rPr lang="en-US" sz="1400" b="1" dirty="0">
                <a:solidFill>
                  <a:srgbClr val="0A0E27"/>
                </a:solidFill>
                <a:latin typeface="Century Gothic"/>
                <a:cs typeface="Segoe UI"/>
              </a:rPr>
              <a:t>FICO x DTI &amp; FICO x Revolving Utilization; </a:t>
            </a:r>
            <a:r>
              <a:rPr sz="1400" b="1" dirty="0">
                <a:solidFill>
                  <a:srgbClr val="0A0E27"/>
                </a:solidFill>
                <a:latin typeface="Century Gothic"/>
                <a:cs typeface="Segoe UI"/>
              </a:rPr>
              <a:t>Low FICO + High DTI = the worst borrower pocket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60349" y="1184718"/>
            <a:ext cx="4425949" cy="22631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1788" y="2502027"/>
            <a:ext cx="433451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A0E27"/>
                </a:solidFill>
                <a:latin typeface="Century Gothic"/>
                <a:cs typeface="Segoe UI"/>
              </a:rPr>
              <a:t>▸ </a:t>
            </a:r>
            <a:r>
              <a:rPr lang="en-US" sz="1300" b="0" i="0" dirty="0">
                <a:solidFill>
                  <a:srgbClr val="0A0E27"/>
                </a:solidFill>
                <a:latin typeface="Century Gothic"/>
                <a:cs typeface="Segoe UI"/>
              </a:rPr>
              <a:t>The worst combined pocket (FICO 660-689 + DTI &gt;35%) defaults at </a:t>
            </a:r>
            <a:r>
              <a:rPr lang="en-US" sz="1300" b="1" i="0" dirty="0">
                <a:solidFill>
                  <a:srgbClr val="0A0E27"/>
                </a:solidFill>
                <a:latin typeface="Century Gothic"/>
                <a:cs typeface="Segoe UI"/>
              </a:rPr>
              <a:t>1.75× the portfolio average </a:t>
            </a:r>
            <a:r>
              <a:rPr lang="en-US" sz="1300" b="0" i="0" dirty="0">
                <a:solidFill>
                  <a:srgbClr val="0A0E27"/>
                </a:solidFill>
                <a:latin typeface="Century Gothic"/>
                <a:cs typeface="Segoe UI"/>
              </a:rPr>
              <a:t>and contains 25K loans — large enough to be policy-relevant, not a statistical anomaly.</a:t>
            </a:r>
          </a:p>
          <a:p>
            <a:endParaRPr lang="en-US" sz="1300" b="0" i="0" dirty="0">
              <a:solidFill>
                <a:srgbClr val="0A0E27"/>
              </a:solidFill>
              <a:latin typeface="Century Gothic"/>
              <a:cs typeface="Segoe U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27D253-05D5-4FFD-6B54-25AE17A2308E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523891-8744-816D-0A77-86548E19B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162" y="1217939"/>
            <a:ext cx="7225963" cy="22476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1258F5-48D9-4B3C-BFB0-FA36D1CA1C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162" y="3901684"/>
            <a:ext cx="7225963" cy="224766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B3B8805-AFBD-33A3-4DA0-0362D99FB607}"/>
              </a:ext>
            </a:extLst>
          </p:cNvPr>
          <p:cNvSpPr/>
          <p:nvPr/>
        </p:nvSpPr>
        <p:spPr>
          <a:xfrm>
            <a:off x="260349" y="3886207"/>
            <a:ext cx="4425949" cy="22631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EF247F-FEE1-EA75-BAE2-4F30DBA894F7}"/>
              </a:ext>
            </a:extLst>
          </p:cNvPr>
          <p:cNvSpPr txBox="1"/>
          <p:nvPr/>
        </p:nvSpPr>
        <p:spPr>
          <a:xfrm>
            <a:off x="351788" y="4217671"/>
            <a:ext cx="433451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dirty="0">
                <a:solidFill>
                  <a:srgbClr val="0A0E27"/>
                </a:solidFill>
                <a:latin typeface="Century Gothic"/>
                <a:cs typeface="Segoe UI"/>
              </a:rPr>
              <a:t>▸ </a:t>
            </a:r>
            <a:r>
              <a:rPr lang="en-US" sz="1300" b="0" i="0" dirty="0">
                <a:solidFill>
                  <a:srgbClr val="0A0E27"/>
                </a:solidFill>
                <a:latin typeface="Century Gothic"/>
                <a:cs typeface="Segoe UI"/>
              </a:rPr>
              <a:t>Within the FICO 660-689 band, bad rates cluster tightly at </a:t>
            </a:r>
            <a:r>
              <a:rPr lang="en-US" sz="1300" b="1" i="0" dirty="0">
                <a:solidFill>
                  <a:srgbClr val="0A0E27"/>
                </a:solidFill>
                <a:latin typeface="Century Gothic"/>
                <a:cs typeface="Segoe UI"/>
              </a:rPr>
              <a:t>23-24%</a:t>
            </a:r>
            <a:r>
              <a:rPr lang="en-US" sz="1300" b="0" i="0" dirty="0">
                <a:solidFill>
                  <a:srgbClr val="0A0E27"/>
                </a:solidFill>
                <a:latin typeface="Century Gothic"/>
                <a:cs typeface="Segoe UI"/>
              </a:rPr>
              <a:t> regardless of which revolving utilization bucket a borrower falls in. </a:t>
            </a:r>
          </a:p>
          <a:p>
            <a:pPr algn="l"/>
            <a:endParaRPr lang="en-US" sz="1300" b="0" i="0" dirty="0">
              <a:solidFill>
                <a:srgbClr val="0A0E27"/>
              </a:solidFill>
              <a:latin typeface="Century Gothic"/>
              <a:cs typeface="Segoe UI"/>
            </a:endParaRPr>
          </a:p>
          <a:p>
            <a:pPr algn="l"/>
            <a:r>
              <a:rPr lang="en-US" sz="1200" dirty="0">
                <a:solidFill>
                  <a:srgbClr val="0A0E27"/>
                </a:solidFill>
                <a:latin typeface="Century Gothic"/>
                <a:cs typeface="Segoe UI"/>
              </a:rPr>
              <a:t>▸ </a:t>
            </a:r>
            <a:r>
              <a:rPr lang="en-US" sz="1300" b="0" i="0" dirty="0">
                <a:solidFill>
                  <a:srgbClr val="0A0E27"/>
                </a:solidFill>
                <a:latin typeface="Century Gothic"/>
                <a:cs typeface="Segoe UI"/>
              </a:rPr>
              <a:t>Adding </a:t>
            </a:r>
            <a:r>
              <a:rPr lang="en-US" sz="1300" b="0" i="0" dirty="0" err="1">
                <a:solidFill>
                  <a:srgbClr val="0A0E27"/>
                </a:solidFill>
                <a:latin typeface="Century Gothic"/>
                <a:cs typeface="Segoe UI"/>
              </a:rPr>
              <a:t>revol</a:t>
            </a:r>
            <a:r>
              <a:rPr lang="en-US" sz="1300" b="0" i="0" dirty="0">
                <a:solidFill>
                  <a:srgbClr val="0A0E27"/>
                </a:solidFill>
                <a:latin typeface="Century Gothic"/>
                <a:cs typeface="Segoe UI"/>
              </a:rPr>
              <a:t> util on top of FICO provides little incremental separation. This suggests FICO already captures most of the credit-stress signal that </a:t>
            </a:r>
            <a:r>
              <a:rPr lang="en-US" sz="1300" b="0" i="0" dirty="0" err="1">
                <a:solidFill>
                  <a:srgbClr val="0A0E27"/>
                </a:solidFill>
                <a:latin typeface="Century Gothic"/>
                <a:cs typeface="Segoe UI"/>
              </a:rPr>
              <a:t>revol</a:t>
            </a:r>
            <a:r>
              <a:rPr lang="en-US" sz="1300" b="0" i="0" dirty="0">
                <a:solidFill>
                  <a:srgbClr val="0A0E27"/>
                </a:solidFill>
                <a:latin typeface="Century Gothic"/>
                <a:cs typeface="Segoe UI"/>
              </a:rPr>
              <a:t> util would add.</a:t>
            </a:r>
          </a:p>
          <a:p>
            <a:pPr algn="l"/>
            <a:endParaRPr lang="en-US" sz="1300" b="0" i="0" dirty="0">
              <a:solidFill>
                <a:srgbClr val="0A0E27"/>
              </a:solidFill>
              <a:latin typeface="Century Gothic"/>
              <a:cs typeface="Segoe U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2BFAF28-515C-13EE-7BE7-86D6AF48BB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192" y="1260803"/>
            <a:ext cx="3130394" cy="117793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042ED6B-A3D2-369B-BF45-43564BDB8ADA}"/>
              </a:ext>
            </a:extLst>
          </p:cNvPr>
          <p:cNvSpPr/>
          <p:nvPr/>
        </p:nvSpPr>
        <p:spPr>
          <a:xfrm>
            <a:off x="5057774" y="4528614"/>
            <a:ext cx="2857498" cy="442614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F6233D-C9AA-FF49-A95E-CEC3CC02E1D6}"/>
              </a:ext>
            </a:extLst>
          </p:cNvPr>
          <p:cNvSpPr/>
          <p:nvPr/>
        </p:nvSpPr>
        <p:spPr>
          <a:xfrm>
            <a:off x="7072313" y="1785938"/>
            <a:ext cx="842960" cy="530350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3196" y="254000"/>
            <a:ext cx="784862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0A0E27"/>
                </a:solidFill>
                <a:latin typeface="Century Gothic"/>
                <a:cs typeface="Segoe UI"/>
              </a:rPr>
              <a:t>Risk Compounds: </a:t>
            </a:r>
            <a:r>
              <a:rPr lang="en-US" sz="2200" b="1" dirty="0">
                <a:solidFill>
                  <a:srgbClr val="0A0E27"/>
                </a:solidFill>
                <a:latin typeface="Century Gothic"/>
                <a:cs typeface="Segoe UI"/>
              </a:rPr>
              <a:t>risk is not additive — it multiplies.</a:t>
            </a:r>
            <a:endParaRPr sz="2200" b="1" dirty="0">
              <a:solidFill>
                <a:srgbClr val="0A0E27"/>
              </a:solidFill>
              <a:latin typeface="Century Gothic"/>
              <a:cs typeface="Segoe UI"/>
            </a:endParaRPr>
          </a:p>
          <a:p>
            <a:r>
              <a:rPr lang="en-US" sz="1400" b="1" dirty="0">
                <a:solidFill>
                  <a:srgbClr val="0A0E27"/>
                </a:solidFill>
                <a:latin typeface="Century Gothic"/>
                <a:cs typeface="Segoe UI"/>
              </a:rPr>
              <a:t>Purpose x Grade; Grade shows consistent trend for bad rate; Purpose add minimal value</a:t>
            </a:r>
            <a:endParaRPr sz="1400" b="1" dirty="0">
              <a:solidFill>
                <a:srgbClr val="0A0E27"/>
              </a:solidFill>
              <a:latin typeface="Century Gothic"/>
              <a:cs typeface="Segoe U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27D253-05D5-4FFD-6B54-25AE17A2308E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3B8805-AFBD-33A3-4DA0-0362D99FB607}"/>
              </a:ext>
            </a:extLst>
          </p:cNvPr>
          <p:cNvSpPr/>
          <p:nvPr/>
        </p:nvSpPr>
        <p:spPr>
          <a:xfrm>
            <a:off x="260349" y="1062256"/>
            <a:ext cx="11512551" cy="112338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EF247F-FEE1-EA75-BAE2-4F30DBA894F7}"/>
              </a:ext>
            </a:extLst>
          </p:cNvPr>
          <p:cNvSpPr txBox="1"/>
          <p:nvPr/>
        </p:nvSpPr>
        <p:spPr>
          <a:xfrm>
            <a:off x="351787" y="1150827"/>
            <a:ext cx="11274705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dirty="0">
                <a:solidFill>
                  <a:srgbClr val="0A0E27"/>
                </a:solidFill>
                <a:latin typeface="Century Gothic"/>
                <a:cs typeface="Segoe UI"/>
              </a:rPr>
              <a:t>▸ </a:t>
            </a:r>
            <a:r>
              <a:rPr lang="en-US" sz="1300" b="0" i="0" dirty="0">
                <a:solidFill>
                  <a:srgbClr val="0A0E27"/>
                </a:solidFill>
                <a:latin typeface="Century Gothic"/>
                <a:cs typeface="Segoe UI"/>
              </a:rPr>
              <a:t>The bad rate gradient across grades (A → G) is consistent across </a:t>
            </a:r>
            <a:r>
              <a:rPr lang="en-US" sz="1300" b="0" i="1" dirty="0">
                <a:solidFill>
                  <a:srgbClr val="0A0E27"/>
                </a:solidFill>
                <a:latin typeface="Century Gothic"/>
                <a:cs typeface="Segoe UI"/>
              </a:rPr>
              <a:t>every</a:t>
            </a:r>
            <a:r>
              <a:rPr lang="en-US" sz="1300" b="0" i="0" dirty="0">
                <a:solidFill>
                  <a:srgbClr val="0A0E27"/>
                </a:solidFill>
                <a:latin typeface="Century Gothic"/>
                <a:cs typeface="Segoe UI"/>
              </a:rPr>
              <a:t> purpose category. </a:t>
            </a:r>
          </a:p>
          <a:p>
            <a:pPr algn="l"/>
            <a:r>
              <a:rPr lang="en-US" sz="1400" dirty="0">
                <a:solidFill>
                  <a:srgbClr val="0A0E27"/>
                </a:solidFill>
                <a:latin typeface="Century Gothic"/>
                <a:cs typeface="Segoe UI"/>
              </a:rPr>
              <a:t>▸ </a:t>
            </a:r>
            <a:r>
              <a:rPr lang="en-US" sz="1300" b="0" i="0" dirty="0">
                <a:solidFill>
                  <a:srgbClr val="0A0E27"/>
                </a:solidFill>
                <a:latin typeface="Century Gothic"/>
                <a:cs typeface="Segoe UI"/>
              </a:rPr>
              <a:t>Purpose adds limited incremental signal within a given grade tier. This argues for using </a:t>
            </a:r>
            <a:r>
              <a:rPr lang="en-US" sz="1300" b="1" i="0" dirty="0">
                <a:solidFill>
                  <a:srgbClr val="0A0E27"/>
                </a:solidFill>
                <a:latin typeface="Century Gothic"/>
                <a:cs typeface="Segoe UI"/>
              </a:rPr>
              <a:t>grade as the primary categorical rule</a:t>
            </a:r>
            <a:r>
              <a:rPr lang="en-US" sz="1300" b="0" i="0" dirty="0">
                <a:solidFill>
                  <a:srgbClr val="0A0E27"/>
                </a:solidFill>
                <a:latin typeface="Century Gothic"/>
                <a:cs typeface="Segoe UI"/>
              </a:rPr>
              <a:t>, rather than building purpose-specific cutoffs.</a:t>
            </a:r>
          </a:p>
          <a:p>
            <a:pPr algn="l"/>
            <a:r>
              <a:rPr lang="en-US" sz="1400" dirty="0">
                <a:solidFill>
                  <a:srgbClr val="0A0E27"/>
                </a:solidFill>
                <a:latin typeface="Century Gothic"/>
                <a:cs typeface="Segoe UI"/>
              </a:rPr>
              <a:t>▸ </a:t>
            </a:r>
            <a:r>
              <a:rPr lang="en-US" sz="1300" b="0" i="0" dirty="0">
                <a:solidFill>
                  <a:srgbClr val="0A0E27"/>
                </a:solidFill>
                <a:latin typeface="Century Gothic"/>
                <a:cs typeface="Segoe UI"/>
              </a:rPr>
              <a:t>Exception: `</a:t>
            </a:r>
            <a:r>
              <a:rPr lang="en-US" sz="1300" b="0" i="0" dirty="0" err="1">
                <a:solidFill>
                  <a:srgbClr val="0A0E27"/>
                </a:solidFill>
                <a:latin typeface="Century Gothic"/>
                <a:cs typeface="Segoe UI"/>
              </a:rPr>
              <a:t>small_business</a:t>
            </a:r>
            <a:r>
              <a:rPr lang="en-US" sz="1300" b="0" i="0" dirty="0">
                <a:solidFill>
                  <a:srgbClr val="0A0E27"/>
                </a:solidFill>
                <a:latin typeface="Century Gothic"/>
                <a:cs typeface="Segoe UI"/>
              </a:rPr>
              <a:t>` is elevated across all grades and may warrant a separate floor.</a:t>
            </a:r>
          </a:p>
          <a:p>
            <a:pPr algn="l"/>
            <a:endParaRPr lang="en-US" sz="1300" b="0" i="0" dirty="0">
              <a:solidFill>
                <a:srgbClr val="0A0E27"/>
              </a:solidFill>
              <a:latin typeface="Century Gothic"/>
              <a:cs typeface="Segoe U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E11775-D8B3-60E5-10CB-E24D1D698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794" y="2387765"/>
            <a:ext cx="9416256" cy="418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642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8908" y="254000"/>
            <a:ext cx="1022748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200" b="1" dirty="0">
                <a:solidFill>
                  <a:srgbClr val="0A0E27"/>
                </a:solidFill>
                <a:latin typeface="Century Gothic"/>
                <a:cs typeface="Segoe UI Semibold"/>
              </a:rPr>
              <a:t>Policy Making: Swap Set Framing – Trade-off: </a:t>
            </a:r>
            <a:r>
              <a:rPr lang="en-US" sz="2200" b="1" dirty="0" err="1">
                <a:solidFill>
                  <a:srgbClr val="0A0E27"/>
                </a:solidFill>
                <a:latin typeface="Century Gothic"/>
                <a:cs typeface="Segoe UI Semibold"/>
              </a:rPr>
              <a:t>Bads</a:t>
            </a:r>
            <a:r>
              <a:rPr lang="en-US" sz="2200" b="1" dirty="0">
                <a:solidFill>
                  <a:srgbClr val="0A0E27"/>
                </a:solidFill>
                <a:latin typeface="Century Gothic"/>
                <a:cs typeface="Segoe UI Semibold"/>
              </a:rPr>
              <a:t> Caught </a:t>
            </a:r>
            <a:r>
              <a:rPr lang="en-US" sz="2200" b="1" dirty="0" err="1">
                <a:solidFill>
                  <a:srgbClr val="0A0E27"/>
                </a:solidFill>
                <a:latin typeface="Century Gothic"/>
                <a:cs typeface="Segoe UI Semibold"/>
              </a:rPr>
              <a:t>v.s</a:t>
            </a:r>
            <a:r>
              <a:rPr lang="en-US" sz="2200" b="1" dirty="0">
                <a:solidFill>
                  <a:srgbClr val="0A0E27"/>
                </a:solidFill>
                <a:latin typeface="Century Gothic"/>
                <a:cs typeface="Segoe UI Semibold"/>
              </a:rPr>
              <a:t>. Goods Lost</a:t>
            </a:r>
            <a:endParaRPr sz="2200" b="1" dirty="0">
              <a:solidFill>
                <a:srgbClr val="0A0E27"/>
              </a:solidFill>
              <a:latin typeface="Century Gothic"/>
              <a:cs typeface="Segoe UI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2880" y="64922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94A3B8"/>
                </a:solidFill>
                <a:latin typeface="Century Gothic"/>
                <a:cs typeface="Segoe UI"/>
              </a:rPr>
              <a:t>Baseline bad rate: 19.5%  ·  All thresholds use only origination-time 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4DD381-3242-6DDB-316F-182BB4843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08" y="800770"/>
            <a:ext cx="8002590" cy="546122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76F53C8-2AFF-E857-A678-DAD49D7F885D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82D9E3-623F-72E9-D524-5B37464CA68A}"/>
              </a:ext>
            </a:extLst>
          </p:cNvPr>
          <p:cNvSpPr/>
          <p:nvPr/>
        </p:nvSpPr>
        <p:spPr>
          <a:xfrm>
            <a:off x="8323791" y="1034832"/>
            <a:ext cx="3676404" cy="2330663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5E1CE7-A4ED-B6D0-956E-F5781436FB1F}"/>
              </a:ext>
            </a:extLst>
          </p:cNvPr>
          <p:cNvSpPr txBox="1"/>
          <p:nvPr/>
        </p:nvSpPr>
        <p:spPr>
          <a:xfrm>
            <a:off x="8358187" y="1106486"/>
            <a:ext cx="360045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dirty="0">
                <a:solidFill>
                  <a:srgbClr val="0A0E27"/>
                </a:solidFill>
                <a:latin typeface="Century Gothic"/>
                <a:cs typeface="Segoe UI"/>
              </a:rPr>
              <a:t>▸ </a:t>
            </a:r>
            <a:r>
              <a:rPr lang="en-US" sz="1300" b="1" i="0" dirty="0">
                <a:solidFill>
                  <a:srgbClr val="0A0E27"/>
                </a:solidFill>
                <a:latin typeface="Century Gothic"/>
                <a:cs typeface="Segoe UI"/>
              </a:rPr>
              <a:t>Grade E/F/G is the single most efficient individual rule</a:t>
            </a:r>
            <a:endParaRPr lang="en-US" sz="1300" b="0" i="0" dirty="0">
              <a:solidFill>
                <a:srgbClr val="0A0E27"/>
              </a:solidFill>
              <a:latin typeface="Century Gothic"/>
              <a:cs typeface="Segoe UI"/>
            </a:endParaRPr>
          </a:p>
          <a:p>
            <a:pPr algn="l"/>
            <a:r>
              <a:rPr lang="en-US" sz="1400" dirty="0">
                <a:solidFill>
                  <a:srgbClr val="0A0E27"/>
                </a:solidFill>
                <a:latin typeface="Century Gothic"/>
                <a:cs typeface="Segoe UI"/>
              </a:rPr>
              <a:t>▸ </a:t>
            </a:r>
            <a:r>
              <a:rPr lang="en-US" sz="1300" dirty="0">
                <a:solidFill>
                  <a:srgbClr val="0A0E27"/>
                </a:solidFill>
                <a:latin typeface="Century Gothic"/>
                <a:cs typeface="Segoe UI"/>
              </a:rPr>
              <a:t>I</a:t>
            </a:r>
            <a:r>
              <a:rPr lang="en-US" sz="1300" b="0" i="0" dirty="0">
                <a:solidFill>
                  <a:srgbClr val="0A0E27"/>
                </a:solidFill>
                <a:latin typeface="Century Gothic"/>
                <a:cs typeface="Segoe UI"/>
              </a:rPr>
              <a:t>t declines only ~10% of</a:t>
            </a:r>
          </a:p>
          <a:p>
            <a:r>
              <a:rPr lang="en-US" sz="1300" b="0" i="0" dirty="0">
                <a:solidFill>
                  <a:srgbClr val="0A0E27"/>
                </a:solidFill>
                <a:latin typeface="Century Gothic"/>
                <a:cs typeface="Segoe UI"/>
              </a:rPr>
              <a:t>volume but catches a disproportionate share of defaults (bad rate ~40% in declined set, more than 2× the portfolio average). </a:t>
            </a:r>
          </a:p>
          <a:p>
            <a:r>
              <a:rPr lang="en-US" sz="1400" dirty="0">
                <a:solidFill>
                  <a:srgbClr val="0A0E27"/>
                </a:solidFill>
                <a:latin typeface="Century Gothic"/>
                <a:cs typeface="Segoe UI"/>
              </a:rPr>
              <a:t>▸ </a:t>
            </a:r>
            <a:r>
              <a:rPr lang="en-US" sz="1300" b="0" i="0" dirty="0">
                <a:solidFill>
                  <a:srgbClr val="0A0E27"/>
                </a:solidFill>
                <a:latin typeface="Century Gothic"/>
                <a:cs typeface="Segoe UI"/>
              </a:rPr>
              <a:t>The good-to-bad ratio of ~0.9:1 means we lose almost no good loans per bad loan caught — the most favorable ratio of any rule.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D9CFF1-495E-341B-84BE-9673887426A4}"/>
              </a:ext>
            </a:extLst>
          </p:cNvPr>
          <p:cNvSpPr/>
          <p:nvPr/>
        </p:nvSpPr>
        <p:spPr>
          <a:xfrm>
            <a:off x="227008" y="3524879"/>
            <a:ext cx="7966657" cy="414382"/>
          </a:xfrm>
          <a:prstGeom prst="rect">
            <a:avLst/>
          </a:prstGeom>
          <a:noFill/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6CFE76-0CE9-25BF-286A-B90D0CA5599D}"/>
              </a:ext>
            </a:extLst>
          </p:cNvPr>
          <p:cNvSpPr/>
          <p:nvPr/>
        </p:nvSpPr>
        <p:spPr>
          <a:xfrm>
            <a:off x="245439" y="5148891"/>
            <a:ext cx="7966657" cy="414382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13E275-2DC1-9737-BF96-7A43467C6B26}"/>
              </a:ext>
            </a:extLst>
          </p:cNvPr>
          <p:cNvSpPr/>
          <p:nvPr/>
        </p:nvSpPr>
        <p:spPr>
          <a:xfrm>
            <a:off x="8323791" y="3483982"/>
            <a:ext cx="3676404" cy="2991089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7F4236-4583-6A7C-D1D3-AF55852BC22B}"/>
              </a:ext>
            </a:extLst>
          </p:cNvPr>
          <p:cNvSpPr txBox="1"/>
          <p:nvPr/>
        </p:nvSpPr>
        <p:spPr>
          <a:xfrm>
            <a:off x="8358187" y="3575831"/>
            <a:ext cx="3600450" cy="312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dirty="0">
                <a:solidFill>
                  <a:srgbClr val="0A0E27"/>
                </a:solidFill>
                <a:latin typeface="Century Gothic"/>
                <a:cs typeface="Segoe UI"/>
              </a:rPr>
              <a:t>▸ </a:t>
            </a:r>
            <a:r>
              <a:rPr lang="en-US" sz="1300" b="1" i="0" dirty="0">
                <a:solidFill>
                  <a:srgbClr val="0A0E27"/>
                </a:solidFill>
                <a:latin typeface="Century Gothic"/>
                <a:cs typeface="Segoe UI"/>
              </a:rPr>
              <a:t>Ruleset D is recommended</a:t>
            </a:r>
            <a:r>
              <a:rPr lang="en-US" sz="1300" b="0" i="0" dirty="0">
                <a:solidFill>
                  <a:srgbClr val="0A0E27"/>
                </a:solidFill>
                <a:latin typeface="Century Gothic"/>
                <a:cs typeface="Segoe UI"/>
              </a:rPr>
              <a:t> because it achieves the largest bad rate reduction at a competitive decline rate. </a:t>
            </a:r>
          </a:p>
          <a:p>
            <a:pPr algn="l"/>
            <a:r>
              <a:rPr lang="en-US" sz="1400" dirty="0">
                <a:solidFill>
                  <a:srgbClr val="0A0E27"/>
                </a:solidFill>
                <a:latin typeface="Century Gothic"/>
                <a:cs typeface="Segoe UI"/>
              </a:rPr>
              <a:t>▸ </a:t>
            </a:r>
            <a:r>
              <a:rPr lang="en-US" sz="1300" b="0" i="0" dirty="0">
                <a:solidFill>
                  <a:srgbClr val="0A0E27"/>
                </a:solidFill>
                <a:latin typeface="Century Gothic"/>
                <a:cs typeface="Segoe UI"/>
              </a:rPr>
              <a:t>The Grade E/F/G component is what sets D apart from C and E — it targets borrowers LC's own model already identifies as highest-risk, and it contributes a qualitatively different signal (holistic risk assessment) rather than just another continuous variable threshold. </a:t>
            </a:r>
          </a:p>
          <a:p>
            <a:pPr algn="l"/>
            <a:r>
              <a:rPr lang="en-US" sz="1400" dirty="0">
                <a:solidFill>
                  <a:srgbClr val="0A0E27"/>
                </a:solidFill>
                <a:latin typeface="Century Gothic"/>
                <a:cs typeface="Segoe UI"/>
              </a:rPr>
              <a:t>▸ </a:t>
            </a:r>
            <a:r>
              <a:rPr lang="en-US" sz="1300" b="0" i="0" dirty="0">
                <a:solidFill>
                  <a:srgbClr val="0A0E27"/>
                </a:solidFill>
                <a:latin typeface="Century Gothic"/>
                <a:cs typeface="Segoe UI"/>
              </a:rPr>
              <a:t>Compared to Ruleset C (FICO + </a:t>
            </a:r>
            <a:r>
              <a:rPr lang="en-US" sz="1300" b="0" i="0" dirty="0" err="1">
                <a:solidFill>
                  <a:srgbClr val="0A0E27"/>
                </a:solidFill>
                <a:latin typeface="Century Gothic"/>
                <a:cs typeface="Segoe UI"/>
              </a:rPr>
              <a:t>Revol</a:t>
            </a:r>
            <a:r>
              <a:rPr lang="en-US" sz="1300" b="0" i="0" dirty="0">
                <a:solidFill>
                  <a:srgbClr val="0A0E27"/>
                </a:solidFill>
                <a:latin typeface="Century Gothic"/>
                <a:cs typeface="Segoe UI"/>
              </a:rPr>
              <a:t> + DTI), Ruleset D achieves more bad rate reduction for roughly the same decline burden.</a:t>
            </a:r>
          </a:p>
          <a:p>
            <a:endParaRPr lang="en-US" sz="1300" b="0" i="0" dirty="0">
              <a:solidFill>
                <a:srgbClr val="0A0E27"/>
              </a:solidFill>
              <a:latin typeface="Century Gothic"/>
              <a:cs typeface="Segoe U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1C1B83-2AC0-8D09-F6D9-4F2F270FFEA1}"/>
              </a:ext>
            </a:extLst>
          </p:cNvPr>
          <p:cNvSpPr/>
          <p:nvPr/>
        </p:nvSpPr>
        <p:spPr>
          <a:xfrm>
            <a:off x="227008" y="3922503"/>
            <a:ext cx="7966657" cy="414382"/>
          </a:xfrm>
          <a:prstGeom prst="rect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52396" y="254000"/>
            <a:ext cx="639790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0A0E27"/>
                </a:solidFill>
                <a:latin typeface="Century Gothic"/>
                <a:cs typeface="Segoe UI Semibold"/>
              </a:rPr>
              <a:t>Recommend</a:t>
            </a:r>
            <a:r>
              <a:rPr lang="en-US" sz="2200" b="1" dirty="0">
                <a:solidFill>
                  <a:srgbClr val="0A0E27"/>
                </a:solidFill>
                <a:latin typeface="Century Gothic"/>
                <a:cs typeface="Segoe UI Semibold"/>
              </a:rPr>
              <a:t>ation: Conservative / Aggressive</a:t>
            </a:r>
          </a:p>
          <a:p>
            <a:r>
              <a:rPr lang="en-US" sz="1400" b="1" dirty="0">
                <a:solidFill>
                  <a:srgbClr val="0A0E27"/>
                </a:solidFill>
                <a:latin typeface="Century Gothic"/>
                <a:cs typeface="Segoe UI Semibold"/>
              </a:rPr>
              <a:t>Confirmed by efficient frontier trade-off visualization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78379" y="5283204"/>
            <a:ext cx="62565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0A0E27"/>
                </a:solidFill>
                <a:latin typeface="Century Gothic"/>
                <a:cs typeface="Segoe UI"/>
              </a:rPr>
              <a:t>"Elbow" of the efficient frontier — meaningful risk</a:t>
            </a:r>
            <a:r>
              <a:rPr lang="en-US" sz="1200" b="0" i="1" dirty="0">
                <a:solidFill>
                  <a:srgbClr val="0A0E27"/>
                </a:solidFill>
                <a:latin typeface="Century Gothic"/>
                <a:cs typeface="Segoe UI"/>
              </a:rPr>
              <a:t> </a:t>
            </a:r>
            <a:r>
              <a:rPr sz="1200" b="0" i="1" dirty="0">
                <a:solidFill>
                  <a:srgbClr val="0A0E27"/>
                </a:solidFill>
                <a:latin typeface="Century Gothic"/>
                <a:cs typeface="Segoe UI"/>
              </a:rPr>
              <a:t>reduction without catastrophic volume loss.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1238E08-7902-FB71-B3E4-35E7619443C0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9F2CE11-70F8-F119-574F-50DF1E39DE62}"/>
              </a:ext>
            </a:extLst>
          </p:cNvPr>
          <p:cNvGrpSpPr/>
          <p:nvPr/>
        </p:nvGrpSpPr>
        <p:grpSpPr>
          <a:xfrm>
            <a:off x="6110340" y="1284509"/>
            <a:ext cx="5961698" cy="3778248"/>
            <a:chOff x="134302" y="1249360"/>
            <a:chExt cx="7423787" cy="5094288"/>
          </a:xfrm>
        </p:grpSpPr>
        <p:pic>
          <p:nvPicPr>
            <p:cNvPr id="4" name="Picture 3" descr="efficient_frontie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302" y="1249360"/>
              <a:ext cx="7423787" cy="5094288"/>
            </a:xfrm>
            <a:prstGeom prst="rect">
              <a:avLst/>
            </a:prstGeom>
          </p:spPr>
        </p:pic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6DC44D1-D898-38D6-059B-E897C8EA6F67}"/>
                </a:ext>
              </a:extLst>
            </p:cNvPr>
            <p:cNvSpPr/>
            <p:nvPr/>
          </p:nvSpPr>
          <p:spPr>
            <a:xfrm>
              <a:off x="6072666" y="2152654"/>
              <a:ext cx="449577" cy="449577"/>
            </a:xfrm>
            <a:prstGeom prst="ellipse">
              <a:avLst/>
            </a:prstGeom>
            <a:noFill/>
            <a:ln w="381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C2B7C86-9BB1-DA13-5BA5-2C26A72C8E21}"/>
                </a:ext>
              </a:extLst>
            </p:cNvPr>
            <p:cNvSpPr/>
            <p:nvPr/>
          </p:nvSpPr>
          <p:spPr>
            <a:xfrm>
              <a:off x="1572263" y="3788670"/>
              <a:ext cx="449577" cy="449577"/>
            </a:xfrm>
            <a:prstGeom prst="ellipse">
              <a:avLst/>
            </a:prstGeom>
            <a:noFill/>
            <a:ln w="381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6507113-D5F4-3A21-228E-720BB5DEB49D}"/>
                </a:ext>
              </a:extLst>
            </p:cNvPr>
            <p:cNvSpPr/>
            <p:nvPr/>
          </p:nvSpPr>
          <p:spPr>
            <a:xfrm>
              <a:off x="3586641" y="2217423"/>
              <a:ext cx="449577" cy="449577"/>
            </a:xfrm>
            <a:prstGeom prst="ellipse">
              <a:avLst/>
            </a:prstGeom>
            <a:noFill/>
            <a:ln w="381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4B641064-0359-419B-8D7A-ADD3C043CEEA}"/>
              </a:ext>
            </a:extLst>
          </p:cNvPr>
          <p:cNvSpPr/>
          <p:nvPr/>
        </p:nvSpPr>
        <p:spPr>
          <a:xfrm>
            <a:off x="158062" y="1320800"/>
            <a:ext cx="5772838" cy="296912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2BAB45A-1292-AE21-26EB-F4511788D8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095" y="1789350"/>
            <a:ext cx="5539121" cy="237625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FF3BB6E-6327-02DE-E53F-107898F711E7}"/>
              </a:ext>
            </a:extLst>
          </p:cNvPr>
          <p:cNvSpPr txBox="1"/>
          <p:nvPr/>
        </p:nvSpPr>
        <p:spPr>
          <a:xfrm>
            <a:off x="243108" y="1354478"/>
            <a:ext cx="5091501" cy="434871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 dirty="0">
                <a:latin typeface="Century Gothic"/>
              </a:rPr>
              <a:t>Recommendation:</a:t>
            </a:r>
            <a:endParaRPr lang="en-US" sz="1400" b="1" dirty="0">
              <a:solidFill>
                <a:srgbClr val="64748B"/>
              </a:solidFill>
              <a:latin typeface="Century Gothic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B05047-842C-C268-8F3B-1D051A4C2768}"/>
              </a:ext>
            </a:extLst>
          </p:cNvPr>
          <p:cNvSpPr txBox="1"/>
          <p:nvPr/>
        </p:nvSpPr>
        <p:spPr>
          <a:xfrm>
            <a:off x="230173" y="4475979"/>
            <a:ext cx="570072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u="sng" dirty="0">
                <a:solidFill>
                  <a:srgbClr val="0A0E27"/>
                </a:solidFill>
                <a:latin typeface="Century Gothic"/>
                <a:cs typeface="Segoe UI"/>
              </a:rPr>
              <a:t>Why Not Exclude 60-Month Loans?</a:t>
            </a:r>
          </a:p>
          <a:p>
            <a:endParaRPr lang="en-US" sz="1200" i="1" dirty="0">
              <a:solidFill>
                <a:srgbClr val="0A0E27"/>
              </a:solidFill>
              <a:latin typeface="Century Gothic"/>
              <a:cs typeface="Segoe UI"/>
            </a:endParaRPr>
          </a:p>
          <a:p>
            <a:r>
              <a:rPr lang="en-US" sz="1200" dirty="0">
                <a:solidFill>
                  <a:srgbClr val="0A0E27"/>
                </a:solidFill>
                <a:latin typeface="Century Gothic"/>
                <a:cs typeface="Segoe UI"/>
              </a:rPr>
              <a:t>▸ </a:t>
            </a:r>
            <a:r>
              <a:rPr lang="en-US" sz="1200" i="1" dirty="0">
                <a:solidFill>
                  <a:srgbClr val="0A0E27"/>
                </a:solidFill>
                <a:latin typeface="Century Gothic"/>
                <a:cs typeface="Segoe UI"/>
              </a:rPr>
              <a:t>This eliminates an entire product line, not a borrower risk segment</a:t>
            </a:r>
          </a:p>
          <a:p>
            <a:r>
              <a:rPr lang="en-US" sz="1200" dirty="0">
                <a:solidFill>
                  <a:srgbClr val="0A0E27"/>
                </a:solidFill>
                <a:latin typeface="Century Gothic"/>
                <a:cs typeface="Segoe UI"/>
              </a:rPr>
              <a:t>▸ </a:t>
            </a:r>
            <a:r>
              <a:rPr lang="en-US" sz="1200" i="1" dirty="0">
                <a:solidFill>
                  <a:srgbClr val="0A0E27"/>
                </a:solidFill>
                <a:latin typeface="Century Gothic"/>
                <a:cs typeface="Segoe UI"/>
              </a:rPr>
              <a:t>60-month loans exist because borrowers need lower monthly payments — many are creditworthy</a:t>
            </a:r>
          </a:p>
          <a:p>
            <a:r>
              <a:rPr lang="en-US" sz="1200" dirty="0">
                <a:solidFill>
                  <a:srgbClr val="0A0E27"/>
                </a:solidFill>
                <a:latin typeface="Century Gothic"/>
                <a:cs typeface="Segoe UI"/>
              </a:rPr>
              <a:t>▸ </a:t>
            </a:r>
            <a:r>
              <a:rPr lang="en-US" sz="1200" i="1" dirty="0">
                <a:solidFill>
                  <a:srgbClr val="0A0E27"/>
                </a:solidFill>
                <a:latin typeface="Century Gothic"/>
                <a:cs typeface="Segoe UI"/>
              </a:rPr>
              <a:t>The right response is tighter underwriting for 60-month applicants (e.g., higher FICO floor), not removing the product</a:t>
            </a:r>
          </a:p>
          <a:p>
            <a:r>
              <a:rPr lang="en-US" sz="1200" dirty="0">
                <a:solidFill>
                  <a:srgbClr val="0A0E27"/>
                </a:solidFill>
                <a:latin typeface="Century Gothic"/>
                <a:cs typeface="Segoe UI"/>
              </a:rPr>
              <a:t>▸ </a:t>
            </a:r>
            <a:r>
              <a:rPr lang="en-US" sz="1200" i="1" dirty="0">
                <a:solidFill>
                  <a:srgbClr val="0A0E27"/>
                </a:solidFill>
                <a:latin typeface="Century Gothic"/>
                <a:cs typeface="Segoe UI"/>
              </a:rPr>
              <a:t>Recommend flagging to product team for term-specific credit policy 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66700" y="254000"/>
            <a:ext cx="161935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0A0E27"/>
                </a:solidFill>
                <a:latin typeface="Century Gothic"/>
                <a:cs typeface="Segoe UI Semibold"/>
              </a:rPr>
              <a:t>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700" y="1143000"/>
            <a:ext cx="11493500" cy="475488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3700" y="1143000"/>
            <a:ext cx="114935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entury Gothic"/>
                <a:cs typeface="Segoe UI Semibold"/>
              </a:rPr>
              <a:t>  →  Future Improvements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700" y="1851660"/>
            <a:ext cx="11493500" cy="2264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1" dirty="0">
                <a:solidFill>
                  <a:srgbClr val="0A0E27"/>
                </a:solidFill>
                <a:latin typeface="Century Gothic"/>
                <a:cs typeface="Segoe UI"/>
              </a:rPr>
              <a:t>Build a logistic regression scorecard</a:t>
            </a:r>
            <a:r>
              <a:rPr sz="1400" dirty="0">
                <a:solidFill>
                  <a:srgbClr val="0A0E27"/>
                </a:solidFill>
                <a:latin typeface="Century Gothic"/>
                <a:cs typeface="Segoe UI"/>
              </a:rPr>
              <a:t>
  → replace hard cutoffs with a continuous risk score; tune threshold at any desired approval rate</a:t>
            </a:r>
          </a:p>
          <a:p>
            <a:pPr>
              <a:spcBef>
                <a:spcPts val="500"/>
              </a:spcBef>
            </a:pPr>
            <a:r>
              <a:rPr sz="1400" b="1" dirty="0">
                <a:solidFill>
                  <a:srgbClr val="0A0E27"/>
                </a:solidFill>
                <a:latin typeface="Century Gothic"/>
                <a:cs typeface="Segoe UI"/>
              </a:rPr>
              <a:t>Vintage analysis</a:t>
            </a:r>
            <a:r>
              <a:rPr sz="1400" dirty="0">
                <a:solidFill>
                  <a:srgbClr val="0A0E27"/>
                </a:solidFill>
                <a:latin typeface="Century Gothic"/>
                <a:cs typeface="Segoe UI"/>
              </a:rPr>
              <a:t>
  → calibrate rules on recent cohorts (2017–2019) to avoid over-weighting the 2008 crisis</a:t>
            </a:r>
          </a:p>
          <a:p>
            <a:pPr>
              <a:spcBef>
                <a:spcPts val="500"/>
              </a:spcBef>
            </a:pPr>
            <a:r>
              <a:rPr sz="1400" b="1" dirty="0">
                <a:solidFill>
                  <a:srgbClr val="0A0E27"/>
                </a:solidFill>
                <a:latin typeface="Century Gothic"/>
                <a:cs typeface="Segoe UI"/>
              </a:rPr>
              <a:t>Purpose-specific policies</a:t>
            </a:r>
            <a:r>
              <a:rPr sz="1400" dirty="0">
                <a:solidFill>
                  <a:srgbClr val="0A0E27"/>
                </a:solidFill>
                <a:latin typeface="Century Gothic"/>
                <a:cs typeface="Segoe UI"/>
              </a:rPr>
              <a:t>
  → small business loans (26% bad rate) may need a separate, stricter policy</a:t>
            </a:r>
          </a:p>
          <a:p>
            <a:pPr>
              <a:spcBef>
                <a:spcPts val="500"/>
              </a:spcBef>
            </a:pPr>
            <a:r>
              <a:rPr sz="1400" b="1" dirty="0">
                <a:solidFill>
                  <a:srgbClr val="0A0E27"/>
                </a:solidFill>
                <a:latin typeface="Century Gothic"/>
                <a:cs typeface="Segoe UI"/>
              </a:rPr>
              <a:t>A/B test the rollout</a:t>
            </a:r>
            <a:r>
              <a:rPr sz="1400" dirty="0">
                <a:solidFill>
                  <a:srgbClr val="0A0E27"/>
                </a:solidFill>
                <a:latin typeface="Century Gothic"/>
                <a:cs typeface="Segoe UI"/>
              </a:rPr>
              <a:t>
  → measure real approval rate impact before full deployment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F4C662-C3E3-1E8B-F4CC-D7C4EE094F1F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906EC8C-69A4-E74C-9273-AFA975E6744A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829</Words>
  <Application>Microsoft Macintosh PowerPoint</Application>
  <PresentationFormat>Widescreen</PresentationFormat>
  <Paragraphs>93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Anqi Chen</cp:lastModifiedBy>
  <cp:revision>9</cp:revision>
  <dcterms:created xsi:type="dcterms:W3CDTF">2013-01-27T09:14:16Z</dcterms:created>
  <dcterms:modified xsi:type="dcterms:W3CDTF">2026-03-06T16:48:27Z</dcterms:modified>
  <cp:category/>
</cp:coreProperties>
</file>