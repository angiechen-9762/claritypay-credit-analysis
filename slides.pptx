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A5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3200400" cy="73152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4400">
                <a:solidFill>
                  <a:srgbClr val="FFFFFF"/>
                </a:solidFill>
              </a:rPr>
              <a:t>Are We Lending to
the Right Borrowers?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DEFB"/>
                </a:solidFill>
              </a:rPr>
              <a:t>Consumer Credit Policy Analysis  ·  Lending Club 2007–2020 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90CAF9"/>
                </a:solidFill>
              </a:rPr>
              <a:t>ClarityPay Take-Home Exercise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94960"/>
            <a:ext cx="3840480" cy="502920"/>
          </a:xfrm>
          <a:prstGeom prst="rect">
            <a:avLst/>
          </a:prstGeom>
          <a:solidFill>
            <a:srgbClr val="1A5E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9496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1,860,331 completed loans  |  2007–2020 Q3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700">
                <a:solidFill>
                  <a:srgbClr val="FFFFFF"/>
                </a:solidFill>
              </a:rPr>
              <a:t>1 in 5 Lending Club Loans Were Never Repaid</a:t>
            </a:r>
          </a:p>
        </p:txBody>
      </p:sp>
      <p:pic>
        <p:nvPicPr>
          <p:cNvPr id="4" name="Picture 3" descr="outcom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1887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EF5350"/>
                </a:solidFill>
              </a:rPr>
              <a:t>19.5%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424242"/>
                </a:solidFill>
              </a:rPr>
              <a:t>charge-off (default) 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429000"/>
            <a:ext cx="116128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356616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424242"/>
                </a:solidFill>
              </a:rPr>
              <a:t>▸ 362,548 loans written off as uncollectible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424242"/>
                </a:solidFill>
              </a:rPr>
              <a:t>▸ Each charge-off = 100% loss of outstanding principal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424242"/>
                </a:solidFill>
              </a:rPr>
              <a:t>▸ Industry average for consumer installment: 2–5%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424242"/>
                </a:solidFill>
              </a:rPr>
              <a:t>▸ LC's platform attracted near-prime / subprime borrowers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424242"/>
                </a:solidFill>
              </a:rPr>
              <a:t>▸ Goal: identify high-risk borrowers before we lend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700">
                <a:solidFill>
                  <a:srgbClr val="FFFFFF"/>
                </a:solidFill>
              </a:rPr>
              <a:t>1.86 Million Completed Loans Analyzed</a:t>
            </a:r>
          </a:p>
          <a:p>
            <a:r>
              <a:rPr sz="1500">
                <a:solidFill>
                  <a:srgbClr val="BBDEFB"/>
                </a:solidFill>
              </a:rPr>
              <a:t>Scope: Fully Paid or Charged Off only  ·  Origination-time features only  ·  No post-loan data leakage</a:t>
            </a:r>
          </a:p>
        </p:txBody>
      </p:sp>
      <p:pic>
        <p:nvPicPr>
          <p:cNvPr id="4" name="Picture 3" descr="volume_bad_rat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34440"/>
            <a:ext cx="68580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173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57575"/>
                </a:solidFill>
              </a:rPr>
              <a:t>Total loans analyzed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72821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24242"/>
                </a:solidFill>
              </a:rPr>
              <a:t>1,860,331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203704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23774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57575"/>
                </a:solidFill>
              </a:rPr>
              <a:t>Fully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68833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24242"/>
                </a:solidFill>
              </a:rPr>
              <a:t>1,497,783  (80.5%)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63824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33375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57575"/>
                </a:solidFill>
              </a:rPr>
              <a:t>Charged 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64845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24242"/>
                </a:solidFill>
              </a:rPr>
              <a:t>362,548  (19.5%)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123944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2976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57575"/>
                </a:solidFill>
              </a:rPr>
              <a:t>Date 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60857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24242"/>
                </a:solidFill>
              </a:rPr>
              <a:t>Jan 2007 – Sep 2020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084064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486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09090"/>
                </a:solidFill>
              </a:rPr>
              <a:t>Methodology: Only loans with a known outcome are included. In-progress loans (Current, Late, Grace Period) are excluded. All features used are observable at origination — no post-loan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700">
                <a:solidFill>
                  <a:srgbClr val="FFFFFF"/>
                </a:solidFill>
              </a:rPr>
              <a:t>Four Attributes Predict Default Before the Loan Is Made</a:t>
            </a:r>
          </a:p>
        </p:txBody>
      </p:sp>
      <p:pic>
        <p:nvPicPr>
          <p:cNvPr id="4" name="Picture 3" descr="risk_by_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51560"/>
            <a:ext cx="5989320" cy="2606040"/>
          </a:xfrm>
          <a:prstGeom prst="rect">
            <a:avLst/>
          </a:prstGeom>
        </p:spPr>
      </p:pic>
      <p:pic>
        <p:nvPicPr>
          <p:cNvPr id="5" name="Picture 4" descr="risk_by_g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051560"/>
            <a:ext cx="5989320" cy="2606040"/>
          </a:xfrm>
          <a:prstGeom prst="rect">
            <a:avLst/>
          </a:prstGeom>
        </p:spPr>
      </p:pic>
      <p:pic>
        <p:nvPicPr>
          <p:cNvPr id="6" name="Picture 5" descr="risk_by_revol_ut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3703320"/>
            <a:ext cx="5989320" cy="2606040"/>
          </a:xfrm>
          <a:prstGeom prst="rect">
            <a:avLst/>
          </a:prstGeom>
        </p:spPr>
      </p:pic>
      <p:pic>
        <p:nvPicPr>
          <p:cNvPr id="7" name="Picture 6" descr="risk_by_purpo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3703320"/>
            <a:ext cx="598932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700">
                <a:solidFill>
                  <a:srgbClr val="FFFFFF"/>
                </a:solidFill>
              </a:rPr>
              <a:t>Six Evidence-Based Decline Rules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43000"/>
          <a:ext cx="116128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03120"/>
                <a:gridCol w="2103120"/>
                <a:gridCol w="5486400"/>
              </a:tblGrid>
              <a:tr h="757645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Bad Rate if Declined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Business Rationale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424242"/>
                          </a:solidFill>
                        </a:rPr>
                        <a:t>FICO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&lt; 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F5350"/>
                          </a:solidFill>
                        </a:rPr>
                        <a:t>24.4%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Near-subprime; 2× the average default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424242"/>
                          </a:solidFill>
                        </a:rPr>
                        <a:t>Loan Grade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E, F, or 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F5350"/>
                          </a:solidFill>
                        </a:rPr>
                        <a:t>39.9%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Lending Club's own model flags &gt;28% expected default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424242"/>
                          </a:solidFill>
                        </a:rPr>
                        <a:t>Revolving Util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&gt;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F5350"/>
                          </a:solidFill>
                        </a:rPr>
                        <a:t>21.6%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Maxed-out credit = severe financial stress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424242"/>
                          </a:solidFill>
                        </a:rPr>
                        <a:t>Bankruptcy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Any record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F5350"/>
                          </a:solidFill>
                        </a:rPr>
                        <a:t>22.5%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Prior bankruptcy = proven inability to repay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424242"/>
                          </a:solidFill>
                        </a:rPr>
                        <a:t>Credit Inquiries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≥ 4 in last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F5350"/>
                          </a:solidFill>
                        </a:rPr>
                        <a:t>~27%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Rapid credit-seeking = financial desperation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424242"/>
                          </a:solidFill>
                        </a:rPr>
                        <a:t>DTI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&gt; 35%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EF5350"/>
                          </a:solidFill>
                        </a:rPr>
                        <a:t>~29%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24242"/>
                          </a:solidFill>
                        </a:rPr>
                        <a:t>Monthly debt burden exceeds safe capacity threshold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9224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09090"/>
                </a:solidFill>
              </a:rPr>
              <a:t>Baseline bad rate: 19.5%  ·  All rules use only origination-time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700">
                <a:solidFill>
                  <a:srgbClr val="FFFFFF"/>
                </a:solidFill>
              </a:rPr>
              <a:t>Recommended Ruleset: FICO &lt; 680  OR  Grade E/F/G  OR  Revol Util &gt; 80%</a:t>
            </a:r>
          </a:p>
        </p:txBody>
      </p:sp>
      <p:pic>
        <p:nvPicPr>
          <p:cNvPr id="4" name="Picture 3" descr="tradeoff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097280"/>
            <a:ext cx="7132320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234440"/>
            <a:ext cx="43891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2344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  Recommended Ruleset (R4)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87451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</a:rPr>
              <a:t>Volume Declined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874519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424242"/>
                </a:solidFill>
              </a:rPr>
              <a:t>43.3%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221991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44144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</a:rPr>
              <a:t>New Bad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441447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2E7D32"/>
                </a:solidFill>
              </a:rPr>
              <a:t>15.5%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788919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3008375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</a:rPr>
              <a:t>Bad Rate Reduction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3008375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2E7D32"/>
                </a:solidFill>
              </a:rPr>
              <a:t>−20.5%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55847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575303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</a:rPr>
              <a:t>Good Loans Lost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57530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5350"/>
                </a:solidFill>
              </a:rPr>
              <a:t>40.5%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922775"/>
            <a:ext cx="11612880" cy="182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4206240"/>
            <a:ext cx="4389120" cy="7315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4251960"/>
            <a:ext cx="4206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D47A1"/>
                </a:solidFill>
              </a:rPr>
              <a:t>"Elbow" of the trade-off curve — meaningful risk
reduction without catastrophic volume loss.</a:t>
            </a:r>
          </a:p>
        </p:txBody>
      </p:sp>
      <p:pic>
        <p:nvPicPr>
          <p:cNvPr id="21" name="Picture 20" descr="ruleset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5074920"/>
            <a:ext cx="438912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700">
                <a:solidFill>
                  <a:srgbClr val="FFFFFF"/>
                </a:solidFill>
              </a:rPr>
              <a:t>Recommendations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48640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143000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  ✓  Implement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Decline if FICO &lt; 680
  → strongest single predictor; 2× baseline bad rate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Decline if Loan Grade E, F, or G
  → Lending Club's own risk model endorses these thresholds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Decline if Revolving Utilization &gt; 80%
  → captures financial stress independent of credit score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Add Bankruptcy as a hard cutoff (any record)
  → categorical signal; no exceptions policy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43000"/>
            <a:ext cx="5486400" cy="47548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  →  Future Improvements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Build a logistic regression scorecard
  → replace hard cutoffs with a continuous risk score; tune threshold at any desired approval rate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Vintage analysis
  → calibrate rules on recent cohorts (2017–2019) to avoid over-weighting the 2008 crisis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Purpose-specific policies
  → small business loans (26% bad rate) may need a separate, stricter policy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424242"/>
                </a:solidFill>
              </a:rPr>
              <a:t>A/B test the rollout
  → measure real approval rate impact before full deployment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92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All rules use only origination-time data  ·  No post-loan information used  ·  Analysis based on 1,860,331 Lending Club loans 2007–2020 Q3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