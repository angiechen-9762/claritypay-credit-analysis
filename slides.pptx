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19"/>
  </p:normalViewPr>
  <p:slideViewPr>
    <p:cSldViewPr snapToGrid="0" snapToObjects="1">
      <p:cViewPr varScale="1">
        <p:scale>
          <a:sx n="130" d="100"/>
          <a:sy n="130" d="100"/>
        </p:scale>
        <p:origin x="200" y="5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47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35000" y="1714500"/>
            <a:ext cx="50800" cy="1778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dirty="0">
                <a:solidFill>
                  <a:srgbClr val="0A0E27"/>
                </a:solidFill>
                <a:latin typeface="Century Gothic"/>
                <a:cs typeface="Segoe UI Semibold"/>
              </a:rPr>
              <a:t>Are We Lending to
the Right Borrowers?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64748B"/>
                </a:solidFill>
                <a:latin typeface="Century Gothic"/>
                <a:cs typeface="Segoe UI"/>
              </a:rPr>
              <a:t>Consumer Credit Policy Analysis  ·  Lending Club 2007–2020 Q3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1">
                <a:solidFill>
                  <a:srgbClr val="3B82F6"/>
                </a:solidFill>
                <a:latin typeface="Century Gothic"/>
                <a:cs typeface="Segoe UI"/>
              </a:rPr>
              <a:t>ClarityPay Take-Home Exercise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5384800"/>
            <a:ext cx="4427794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3600" y="5453624"/>
            <a:ext cx="437699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entury Gothic"/>
                <a:cs typeface="Segoe UI"/>
              </a:rPr>
              <a:t>  1,860,331 completed loans  |  2007–2020 Q3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A34707-5098-AB47-999C-D2CCDA8D53DF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3B82F6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A0E27"/>
                </a:solidFill>
                <a:latin typeface="Century Gothic"/>
                <a:cs typeface="Segoe UI Semibold"/>
              </a:rPr>
              <a:t>1 in 5 Lending Club Loans Were Never Repaid</a:t>
            </a:r>
          </a:p>
        </p:txBody>
      </p:sp>
      <p:pic>
        <p:nvPicPr>
          <p:cNvPr id="4" name="Picture 3" descr="outcom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66928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1887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3B82F6"/>
                </a:solidFill>
                <a:latin typeface="Century Gothic"/>
                <a:cs typeface="Segoe UI Semibold"/>
              </a:rPr>
              <a:t>19.5%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8346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  <a:latin typeface="Century Gothic"/>
                <a:cs typeface="Segoe UI"/>
              </a:rPr>
              <a:t>charge-off (default) rate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3429000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0" y="3566160"/>
            <a:ext cx="5486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▸ 362,548 loans written off as uncollectible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▸ Each charge-off = 100% loss of outstanding principal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▸ Industry average for consumer installment: 2–5%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▸ LC's platform attracted near-prime / subprime borrowers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▸ Goal: identify high-risk borrowers before we lend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889538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A0E27"/>
                </a:solidFill>
                <a:latin typeface="Century Gothic"/>
                <a:cs typeface="Segoe UI"/>
              </a:rPr>
              <a:t>1.86 Million Completed Loans Analyzed</a:t>
            </a:r>
          </a:p>
          <a:p>
            <a:r>
              <a:rPr sz="1400" b="1" dirty="0">
                <a:solidFill>
                  <a:srgbClr val="0A0E27"/>
                </a:solidFill>
                <a:latin typeface="Century Gothic"/>
                <a:cs typeface="Segoe UI"/>
              </a:rPr>
              <a:t>Scope: Fully Paid or Charged Off only  ·  Origination-time features only  ·  No post-loan data leakage</a:t>
            </a:r>
          </a:p>
        </p:txBody>
      </p:sp>
      <p:pic>
        <p:nvPicPr>
          <p:cNvPr id="4" name="Picture 3" descr="volume_by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4440"/>
            <a:ext cx="685800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1732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Total loans analyzed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172821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B82F6"/>
                </a:solidFill>
                <a:latin typeface="Century Gothic"/>
                <a:cs typeface="Segoe UI Semibold"/>
              </a:rPr>
              <a:t>1,860,331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03704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0" y="23774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Fully Paid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268833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E27"/>
                </a:solidFill>
                <a:latin typeface="Century Gothic"/>
                <a:cs typeface="Segoe UI Semibold"/>
              </a:rPr>
              <a:t>1,497,783  (80.5%)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63824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333756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Charged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6484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B82F6"/>
                </a:solidFill>
                <a:latin typeface="Century Gothic"/>
                <a:cs typeface="Segoe UI Semibold"/>
              </a:rPr>
              <a:t>362,548  (19.5%)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123944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06640" y="42976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Date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60857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E27"/>
                </a:solidFill>
                <a:latin typeface="Century Gothic"/>
                <a:cs typeface="Segoe UI Semibold"/>
              </a:rPr>
              <a:t>Jan 2007 – Sep 2020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084064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0" y="548640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entury Gothic"/>
                <a:cs typeface="Segoe UI"/>
              </a:rPr>
              <a:t>Methodology: Only loans with a known outcome are included. In-progress loans (Current, Late, Grace Period) are excluded. All features used are observable at origination — no post-loan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E27"/>
                </a:solidFill>
                <a:latin typeface="Century Gothic"/>
                <a:cs typeface="Segoe UI Semibold"/>
              </a:rPr>
              <a:t>Four Attributes Predict Default Before the Loan Is Made</a:t>
            </a:r>
          </a:p>
        </p:txBody>
      </p:sp>
      <p:pic>
        <p:nvPicPr>
          <p:cNvPr id="4" name="Picture 3" descr="bad_rate_by_f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5989320" cy="2606040"/>
          </a:xfrm>
          <a:prstGeom prst="rect">
            <a:avLst/>
          </a:prstGeom>
        </p:spPr>
      </p:pic>
      <p:pic>
        <p:nvPicPr>
          <p:cNvPr id="5" name="Picture 4" descr="bad_rate_by_gr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051560"/>
            <a:ext cx="5989320" cy="2606040"/>
          </a:xfrm>
          <a:prstGeom prst="rect">
            <a:avLst/>
          </a:prstGeom>
        </p:spPr>
      </p:pic>
      <p:pic>
        <p:nvPicPr>
          <p:cNvPr id="6" name="Picture 5" descr="bad_rate_by_revol_ut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3703320"/>
            <a:ext cx="5989320" cy="2606040"/>
          </a:xfrm>
          <a:prstGeom prst="rect">
            <a:avLst/>
          </a:prstGeom>
        </p:spPr>
      </p:pic>
      <p:pic>
        <p:nvPicPr>
          <p:cNvPr id="7" name="Picture 6" descr="bad_rate_by_purp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3703320"/>
            <a:ext cx="598932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559319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dirty="0">
                <a:solidFill>
                  <a:srgbClr val="0A0E27"/>
                </a:solidFill>
                <a:latin typeface="Century Gothic"/>
                <a:cs typeface="Segoe UI"/>
              </a:rPr>
              <a:t>Risk Compounds: FICO × DTI Interaction</a:t>
            </a:r>
          </a:p>
          <a:p>
            <a:r>
              <a:rPr sz="1400" b="1" dirty="0">
                <a:solidFill>
                  <a:srgbClr val="0A0E27"/>
                </a:solidFill>
                <a:latin typeface="Century Gothic"/>
                <a:cs typeface="Segoe UI"/>
              </a:rPr>
              <a:t>Low FICO + High DTI = the worst borrower pocket</a:t>
            </a:r>
          </a:p>
        </p:txBody>
      </p:sp>
      <p:pic>
        <p:nvPicPr>
          <p:cNvPr id="4" name="Picture 3" descr="heatmap_fico_d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43000"/>
            <a:ext cx="11887200" cy="4389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4320" y="5669280"/>
            <a:ext cx="777240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5715000"/>
            <a:ext cx="7589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A0E27"/>
                </a:solidFill>
                <a:latin typeface="Century Gothic"/>
                <a:cs typeface="Segoe UI"/>
              </a:rPr>
              <a:t>Borrowers with FICO &lt; 680 AND DTI &gt; 35% default at the highest rate — nearly 2–3× the portfolio average. The right panel confirms this is a large enough segment to matter commercially.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5669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  <a:latin typeface="Century Gothic"/>
                <a:cs typeface="Segoe UI Semibold"/>
              </a:rPr>
              <a:t>Variables compound:
risk is not additive —
it multiplies.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E27"/>
                </a:solidFill>
                <a:latin typeface="Century Gothic"/>
                <a:cs typeface="Segoe UI Semibold"/>
              </a:rPr>
              <a:t>Recommended Policy: Three Evidence-Based Decline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entury Gothic"/>
                <a:cs typeface="Segoe UI"/>
              </a:rPr>
              <a:t>Baseline bad rate: 19.5%  ·  All thresholds use only origination-time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4DD381-3242-6DDB-316F-182BB4843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0"/>
            <a:ext cx="7518400" cy="513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E27"/>
                </a:solidFill>
                <a:latin typeface="Century Gothic"/>
                <a:cs typeface="Segoe UI Semibold"/>
              </a:rPr>
              <a:t>Recommended Ruleset D: FICO &lt; 680  OR  Grade E/F/G  OR  Revol Util &gt; 80%</a:t>
            </a:r>
          </a:p>
        </p:txBody>
      </p:sp>
      <p:pic>
        <p:nvPicPr>
          <p:cNvPr id="4" name="Picture 3" descr="efficient_fron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97280"/>
            <a:ext cx="7132320" cy="530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498079" y="1234440"/>
            <a:ext cx="4389120" cy="5029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79" y="12344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  <a:cs typeface="Segoe UI Semibold"/>
              </a:rPr>
              <a:t>  Ruleset D — Key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74519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Baseline bad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1874519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B82F6"/>
                </a:solidFill>
                <a:latin typeface="Century Gothic"/>
                <a:cs typeface="Segoe UI Semibold"/>
              </a:rPr>
              <a:t>19.5%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2441447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New bad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44144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B82F6"/>
                </a:solidFill>
                <a:latin typeface="Century Gothic"/>
                <a:cs typeface="Segoe UI Semibold"/>
              </a:rPr>
              <a:t>15.5%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88919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3008375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Bad rate reduction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300837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B82F6"/>
                </a:solidFill>
                <a:latin typeface="Century Gothic"/>
                <a:cs typeface="Segoe UI Semibold"/>
              </a:rPr>
              <a:t>−4.0 pp (20.5%)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55847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3575303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Volume declined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3575303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B82F6"/>
                </a:solidFill>
                <a:latin typeface="Century Gothic"/>
                <a:cs typeface="Segoe UI Semibold"/>
              </a:rPr>
              <a:t>43.3%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22775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89520" y="4142231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748B"/>
                </a:solidFill>
                <a:latin typeface="Century Gothic"/>
                <a:cs typeface="Segoe UI"/>
              </a:rPr>
              <a:t>Good loans lost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4142231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 i="0">
                <a:solidFill>
                  <a:srgbClr val="3B82F6"/>
                </a:solidFill>
                <a:latin typeface="Century Gothic"/>
                <a:cs typeface="Segoe UI Semibold"/>
              </a:rPr>
              <a:t>40.5%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489703"/>
            <a:ext cx="116128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98079" y="4754880"/>
            <a:ext cx="4389120" cy="8229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4800600"/>
            <a:ext cx="42062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A0E27"/>
                </a:solidFill>
                <a:latin typeface="Century Gothic"/>
                <a:cs typeface="Segoe UI"/>
              </a:rPr>
              <a:t>"Elbow" of the efficient frontier — meaningful risk
reduction without catastrophic volume loss.</a:t>
            </a:r>
          </a:p>
        </p:txBody>
      </p:sp>
      <p:pic>
        <p:nvPicPr>
          <p:cNvPr id="24" name="Picture 23" descr="rulese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5715000"/>
            <a:ext cx="4389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AF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254000"/>
            <a:ext cx="11518900" cy="635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A0E27"/>
                </a:solidFill>
                <a:latin typeface="Century Gothic"/>
                <a:cs typeface="Segoe UI Semibold"/>
              </a:rPr>
              <a:t>Recommendations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5486400" cy="47548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  <a:cs typeface="Segoe UI Semibold"/>
              </a:rPr>
              <a:t>  ✓  Implement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3736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Decline if FICO &lt; 680
  → strongest single predictor; 2× baseline bad rate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Decline if Loan Grade E, F, or G
  → Lending Club's own risk model endorses these thresholds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Decline if Revolving Utilization &gt; 80%
  → captures financial stress independent of credit score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Add Bankruptcy as a hard cutoff (any record)
  → categorical signal; no exceptions policy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143000"/>
            <a:ext cx="5486400" cy="475488"/>
          </a:xfrm>
          <a:prstGeom prst="rect">
            <a:avLst/>
          </a:prstGeom>
          <a:solidFill>
            <a:srgbClr val="0A0E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14300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entury Gothic"/>
                <a:cs typeface="Segoe UI Semibold"/>
              </a:rPr>
              <a:t>  →  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Build a logistic regression scorecard
  → replace hard cutoffs with a continuous risk score; tune threshold at any desired approval rate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Vintage analysis
  → calibrate rules on recent cohorts (2017–2019) to avoid over-weighting the 2008 crisis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Purpose-specific policies
  → small business loans (26% bad rate) may need a separate, stricter policy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0A0E27"/>
                </a:solidFill>
                <a:latin typeface="Century Gothic"/>
                <a:cs typeface="Segoe UI"/>
              </a:rPr>
              <a:t>A/B test the rollout
  → measure real approval rate impact before full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4320" y="64922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Century Gothic"/>
                <a:cs typeface="Segoe UI"/>
              </a:rPr>
              <a:t>All rules use only origination-time data  ·  No post-loan information used  ·  Analysis based on 1,860,331 Lending Club loans 2007–2020 Q3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906EC8C-69A4-E74C-9273-AFA975E6744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523</Words>
  <Application>Microsoft Macintosh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Anqi Chen</cp:lastModifiedBy>
  <cp:revision>2</cp:revision>
  <dcterms:created xsi:type="dcterms:W3CDTF">2013-01-27T09:14:16Z</dcterms:created>
  <dcterms:modified xsi:type="dcterms:W3CDTF">2026-03-06T06:46:06Z</dcterms:modified>
  <cp:category/>
</cp:coreProperties>
</file>