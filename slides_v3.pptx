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40"/>
    <p:restoredTop sz="94666"/>
  </p:normalViewPr>
  <p:slideViewPr>
    <p:cSldViewPr snapToGrid="0" snapToObjects="1">
      <p:cViewPr varScale="1">
        <p:scale>
          <a:sx n="87" d="100"/>
          <a:sy n="87" d="100"/>
        </p:scale>
        <p:origin x="224" y="9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A0E27"/>
                </a:solidFill>
                <a:latin typeface="Century Gothic"/>
              </a:rPr>
              <a:t>Are We Lending to
the Right Borrowers?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Century Gothic"/>
              </a:rPr>
              <a:t>Consumer Credit Policy Analysis  ·  Lending Club 2007–2020 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82F6"/>
                </a:solidFill>
                <a:latin typeface="Century Gothic"/>
              </a:rPr>
              <a:t>ClarityPay Take-Home Exercise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5384800"/>
            <a:ext cx="4064000" cy="5334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5394960"/>
            <a:ext cx="406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entury Gothic"/>
              </a:rPr>
              <a:t>  1,860,331 completed loans  |  2007–2020 Q3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E5FE6E-7355-B143-996E-C30062FCF799}"/>
              </a:ext>
            </a:extLst>
          </p:cNvPr>
          <p:cNvSpPr/>
          <p:nvPr/>
        </p:nvSpPr>
        <p:spPr>
          <a:xfrm>
            <a:off x="635000" y="1714500"/>
            <a:ext cx="63500" cy="17780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</a:rPr>
              <a:t>1 in 5 Lending Club Loans Were Never Repaid</a:t>
            </a:r>
          </a:p>
        </p:txBody>
      </p:sp>
      <p:pic>
        <p:nvPicPr>
          <p:cNvPr id="4" name="Picture 3" descr="out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66928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811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3B82F6"/>
                </a:solidFill>
                <a:latin typeface="Century Gothic"/>
              </a:rPr>
              <a:t>19.5%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entury Gothic"/>
              </a:rPr>
              <a:t>charge-off (default)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429000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35661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▸ 362,548 loans written off as uncollectible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▸ Each charge-off = 100% loss of outstanding principal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▸ Industry average for consumer installment: 2–5%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▸ LC's platform attracted near-prime / subprime borrowers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▸ Goal: identify high-risk borrowers before we lend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ED67F-D80A-CA46-9C86-12752B55A809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A0E27"/>
                </a:solidFill>
                <a:latin typeface="Century Gothic"/>
              </a:rPr>
              <a:t>1.86 Million Completed Loans Analyzed</a:t>
            </a:r>
          </a:p>
          <a:p>
            <a:r>
              <a:rPr b="1">
                <a:solidFill>
                  <a:srgbClr val="0A0E27"/>
                </a:solidFill>
                <a:latin typeface="Century Gothic"/>
              </a:rPr>
              <a:t>Scope: Fully Paid or Charged Off only  ·  Origination-time features only  ·  No post-loan data leakage</a:t>
            </a:r>
          </a:p>
        </p:txBody>
      </p:sp>
      <p:pic>
        <p:nvPicPr>
          <p:cNvPr id="4" name="Picture 3" descr="volume_bad_rat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68580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17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Total loans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282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  <a:latin typeface="Century Gothic"/>
              </a:rPr>
              <a:t>1,860,331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03704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2377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Fully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6883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E27"/>
                </a:solidFill>
                <a:latin typeface="Century Gothic"/>
              </a:rPr>
              <a:t>1,497,783  (80.5%)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63824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3337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Charged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6484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entury Gothic"/>
              </a:rPr>
              <a:t>362,548  (19.5%)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23944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297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Date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6085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E27"/>
                </a:solidFill>
                <a:latin typeface="Century Gothic"/>
              </a:rPr>
              <a:t>Jan 2007 – Sep 2020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84064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486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entury Gothic"/>
              </a:rPr>
              <a:t>Methodology: Only loans with a known outcome are included. In-progress loans (Current, Late, Grace Period) are excluded. All features used are observable at origination — no post-loan data.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09F80-FD50-F345-AC14-F400390BCA3A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</a:rPr>
              <a:t>Four Attributes Predict Default Before the Loan Is Made</a:t>
            </a:r>
          </a:p>
        </p:txBody>
      </p:sp>
      <p:pic>
        <p:nvPicPr>
          <p:cNvPr id="4" name="Picture 3" descr="risk_by_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5989320" cy="2606040"/>
          </a:xfrm>
          <a:prstGeom prst="rect">
            <a:avLst/>
          </a:prstGeom>
        </p:spPr>
      </p:pic>
      <p:pic>
        <p:nvPicPr>
          <p:cNvPr id="5" name="Picture 4" descr="risk_by_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051560"/>
            <a:ext cx="5989320" cy="2606040"/>
          </a:xfrm>
          <a:prstGeom prst="rect">
            <a:avLst/>
          </a:prstGeom>
        </p:spPr>
      </p:pic>
      <p:pic>
        <p:nvPicPr>
          <p:cNvPr id="6" name="Picture 5" descr="risk_by_revol_ut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703320"/>
            <a:ext cx="5989320" cy="2606040"/>
          </a:xfrm>
          <a:prstGeom prst="rect">
            <a:avLst/>
          </a:prstGeom>
        </p:spPr>
      </p:pic>
      <p:pic>
        <p:nvPicPr>
          <p:cNvPr id="7" name="Picture 6" descr="risk_by_pur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703320"/>
            <a:ext cx="5989320" cy="26060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E1E3B8-B6E5-9B48-BCF2-DE1BDB83B81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</a:rPr>
              <a:t>Six Evidence-Based Decline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entury Gothic"/>
              </a:rPr>
              <a:t>Baseline bad rate: 19.5%  ·  All rules use only origination-time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74D31-679C-0441-A815-5FB135CBF92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891DD-5345-8A43-8325-DCD77FB31890}"/>
              </a:ext>
            </a:extLst>
          </p:cNvPr>
          <p:cNvSpPr/>
          <p:nvPr/>
        </p:nvSpPr>
        <p:spPr>
          <a:xfrm>
            <a:off x="279400" y="1143000"/>
            <a:ext cx="11607800" cy="6096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674F8-658F-7745-B3EE-2AE1282D4099}"/>
              </a:ext>
            </a:extLst>
          </p:cNvPr>
          <p:cNvSpPr txBox="1"/>
          <p:nvPr/>
        </p:nvSpPr>
        <p:spPr>
          <a:xfrm>
            <a:off x="381000" y="1168400"/>
            <a:ext cx="1574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entury Gothic"/>
              </a:rPr>
              <a:t>Rule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9F103E-44EC-8847-9A22-B13D140B4E97}"/>
              </a:ext>
            </a:extLst>
          </p:cNvPr>
          <p:cNvSpPr txBox="1"/>
          <p:nvPr/>
        </p:nvSpPr>
        <p:spPr>
          <a:xfrm>
            <a:off x="2159000" y="1168400"/>
            <a:ext cx="1701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entury Gothic"/>
              </a:rPr>
              <a:t>Threshold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08562-2A46-5C4D-B66C-E222E87BF4C0}"/>
              </a:ext>
            </a:extLst>
          </p:cNvPr>
          <p:cNvSpPr txBox="1"/>
          <p:nvPr/>
        </p:nvSpPr>
        <p:spPr>
          <a:xfrm>
            <a:off x="4064000" y="1168400"/>
            <a:ext cx="15748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entury Gothic"/>
              </a:rPr>
              <a:t>Bad Rate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30C40-F1BC-CD4F-A500-2F9C6CC4F8A2}"/>
              </a:ext>
            </a:extLst>
          </p:cNvPr>
          <p:cNvSpPr txBox="1"/>
          <p:nvPr/>
        </p:nvSpPr>
        <p:spPr>
          <a:xfrm>
            <a:off x="5842000" y="1168400"/>
            <a:ext cx="5943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entury Gothic"/>
              </a:rPr>
              <a:t>Business Rationale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6DC32F-5775-8948-9FC6-F51AA0F0123D}"/>
              </a:ext>
            </a:extLst>
          </p:cNvPr>
          <p:cNvSpPr/>
          <p:nvPr/>
        </p:nvSpPr>
        <p:spPr>
          <a:xfrm>
            <a:off x="279400" y="1752600"/>
            <a:ext cx="11607800" cy="685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1D0C44-A901-494E-8EEF-51AD843A2920}"/>
              </a:ext>
            </a:extLst>
          </p:cNvPr>
          <p:cNvSpPr/>
          <p:nvPr/>
        </p:nvSpPr>
        <p:spPr>
          <a:xfrm>
            <a:off x="279400" y="2425700"/>
            <a:ext cx="116078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09994D-21C3-6E49-9E6F-1911360B85E3}"/>
              </a:ext>
            </a:extLst>
          </p:cNvPr>
          <p:cNvSpPr txBox="1"/>
          <p:nvPr/>
        </p:nvSpPr>
        <p:spPr>
          <a:xfrm>
            <a:off x="381000" y="17780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A0E27"/>
                </a:solidFill>
                <a:latin typeface="Century Gothic"/>
              </a:rPr>
              <a:t>FICO Score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A9B32-4594-D742-906C-2839489882A7}"/>
              </a:ext>
            </a:extLst>
          </p:cNvPr>
          <p:cNvSpPr txBox="1"/>
          <p:nvPr/>
        </p:nvSpPr>
        <p:spPr>
          <a:xfrm>
            <a:off x="2159000" y="17780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A0E27"/>
                </a:solidFill>
                <a:latin typeface="Century Gothic"/>
              </a:rPr>
              <a:t>&lt; 680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5E2DFF-3BAD-744C-9EEA-42776CB6D64F}"/>
              </a:ext>
            </a:extLst>
          </p:cNvPr>
          <p:cNvSpPr txBox="1"/>
          <p:nvPr/>
        </p:nvSpPr>
        <p:spPr>
          <a:xfrm>
            <a:off x="4064000" y="17780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B82F6"/>
                </a:solidFill>
                <a:latin typeface="Century Gothic"/>
              </a:rPr>
              <a:t>24.4%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894F05-79CF-DF4F-9A9E-CF0437336FD3}"/>
              </a:ext>
            </a:extLst>
          </p:cNvPr>
          <p:cNvSpPr txBox="1"/>
          <p:nvPr/>
        </p:nvSpPr>
        <p:spPr>
          <a:xfrm>
            <a:off x="5842000" y="1778000"/>
            <a:ext cx="5943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64748B"/>
                </a:solidFill>
                <a:latin typeface="Century Gothic"/>
              </a:rPr>
              <a:t>Near-subprime; 2× the average default rate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B791A7-DCAB-614B-AA89-B527A393D3EA}"/>
              </a:ext>
            </a:extLst>
          </p:cNvPr>
          <p:cNvSpPr/>
          <p:nvPr/>
        </p:nvSpPr>
        <p:spPr>
          <a:xfrm>
            <a:off x="279400" y="2438400"/>
            <a:ext cx="11607800" cy="685800"/>
          </a:xfrm>
          <a:prstGeom prst="rect">
            <a:avLst/>
          </a:prstGeom>
          <a:solidFill>
            <a:srgbClr val="F0F7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3A288D-95AB-804C-9E6A-6650E5E65E04}"/>
              </a:ext>
            </a:extLst>
          </p:cNvPr>
          <p:cNvSpPr/>
          <p:nvPr/>
        </p:nvSpPr>
        <p:spPr>
          <a:xfrm>
            <a:off x="279400" y="3111500"/>
            <a:ext cx="116078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0B5551-59C9-6D4A-A782-B5E3AFABC4EF}"/>
              </a:ext>
            </a:extLst>
          </p:cNvPr>
          <p:cNvSpPr txBox="1"/>
          <p:nvPr/>
        </p:nvSpPr>
        <p:spPr>
          <a:xfrm>
            <a:off x="381000" y="24638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A0E27"/>
                </a:solidFill>
                <a:latin typeface="Century Gothic"/>
              </a:rPr>
              <a:t>Loan Grade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544FFC-6F02-9E44-B4BE-EBEE4F78FED0}"/>
              </a:ext>
            </a:extLst>
          </p:cNvPr>
          <p:cNvSpPr txBox="1"/>
          <p:nvPr/>
        </p:nvSpPr>
        <p:spPr>
          <a:xfrm>
            <a:off x="2159000" y="24638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A0E27"/>
                </a:solidFill>
                <a:latin typeface="Century Gothic"/>
              </a:rPr>
              <a:t>E, F, or 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D0E80E-A5F0-1247-9F76-E4AB95C28B5B}"/>
              </a:ext>
            </a:extLst>
          </p:cNvPr>
          <p:cNvSpPr txBox="1"/>
          <p:nvPr/>
        </p:nvSpPr>
        <p:spPr>
          <a:xfrm>
            <a:off x="4064000" y="24638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B82F6"/>
                </a:solidFill>
                <a:latin typeface="Century Gothic"/>
              </a:rPr>
              <a:t>39.9%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87E8D4-848A-E346-8DCC-78967F97A4C0}"/>
              </a:ext>
            </a:extLst>
          </p:cNvPr>
          <p:cNvSpPr txBox="1"/>
          <p:nvPr/>
        </p:nvSpPr>
        <p:spPr>
          <a:xfrm>
            <a:off x="5842000" y="2463800"/>
            <a:ext cx="5943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Century Gothic"/>
              </a:rPr>
              <a:t>LC’s model flags &gt;28% expected default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FD1A47-A8EE-D54B-A1B5-CB17703D6597}"/>
              </a:ext>
            </a:extLst>
          </p:cNvPr>
          <p:cNvSpPr/>
          <p:nvPr/>
        </p:nvSpPr>
        <p:spPr>
          <a:xfrm>
            <a:off x="279400" y="3124200"/>
            <a:ext cx="11607800" cy="685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98A90B-6CB3-2845-8C57-6C5EB7830808}"/>
              </a:ext>
            </a:extLst>
          </p:cNvPr>
          <p:cNvSpPr/>
          <p:nvPr/>
        </p:nvSpPr>
        <p:spPr>
          <a:xfrm>
            <a:off x="279400" y="3797300"/>
            <a:ext cx="116078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20158A-6F00-6041-B5A3-43D10BFA547D}"/>
              </a:ext>
            </a:extLst>
          </p:cNvPr>
          <p:cNvSpPr txBox="1"/>
          <p:nvPr/>
        </p:nvSpPr>
        <p:spPr>
          <a:xfrm>
            <a:off x="381000" y="31496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A0E27"/>
                </a:solidFill>
                <a:latin typeface="Century Gothic"/>
              </a:rPr>
              <a:t>Revolving Util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ECFBBF-8615-8E4B-BC20-796EC6330B84}"/>
              </a:ext>
            </a:extLst>
          </p:cNvPr>
          <p:cNvSpPr txBox="1"/>
          <p:nvPr/>
        </p:nvSpPr>
        <p:spPr>
          <a:xfrm>
            <a:off x="2159000" y="31496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A0E27"/>
                </a:solidFill>
                <a:latin typeface="Century Gothic"/>
              </a:rPr>
              <a:t>&gt; 80%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5549D8-C324-9145-B426-BC14C287CB76}"/>
              </a:ext>
            </a:extLst>
          </p:cNvPr>
          <p:cNvSpPr txBox="1"/>
          <p:nvPr/>
        </p:nvSpPr>
        <p:spPr>
          <a:xfrm>
            <a:off x="4064000" y="31496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B82F6"/>
                </a:solidFill>
                <a:latin typeface="Century Gothic"/>
              </a:rPr>
              <a:t>21.6%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4AB7A7-F28A-A74F-B474-74D48367E7C8}"/>
              </a:ext>
            </a:extLst>
          </p:cNvPr>
          <p:cNvSpPr txBox="1"/>
          <p:nvPr/>
        </p:nvSpPr>
        <p:spPr>
          <a:xfrm>
            <a:off x="5842000" y="3149600"/>
            <a:ext cx="5943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Century Gothic"/>
              </a:rPr>
              <a:t>Maxed-out credit = severe financial stress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FBC65E-3FAC-4444-A6F6-C744739ED56A}"/>
              </a:ext>
            </a:extLst>
          </p:cNvPr>
          <p:cNvSpPr/>
          <p:nvPr/>
        </p:nvSpPr>
        <p:spPr>
          <a:xfrm>
            <a:off x="279400" y="3810000"/>
            <a:ext cx="11607800" cy="685800"/>
          </a:xfrm>
          <a:prstGeom prst="rect">
            <a:avLst/>
          </a:prstGeom>
          <a:solidFill>
            <a:srgbClr val="F0F7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28A9FF-127D-434C-B5D4-8608453C38F0}"/>
              </a:ext>
            </a:extLst>
          </p:cNvPr>
          <p:cNvSpPr/>
          <p:nvPr/>
        </p:nvSpPr>
        <p:spPr>
          <a:xfrm>
            <a:off x="279400" y="4483100"/>
            <a:ext cx="116078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D5C678-BDB2-E14C-9DE1-BFD431047150}"/>
              </a:ext>
            </a:extLst>
          </p:cNvPr>
          <p:cNvSpPr txBox="1"/>
          <p:nvPr/>
        </p:nvSpPr>
        <p:spPr>
          <a:xfrm>
            <a:off x="381000" y="38354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A0E27"/>
                </a:solidFill>
                <a:latin typeface="Century Gothic"/>
              </a:rPr>
              <a:t>Bankruptcy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0C8041-799E-5043-8D17-970B520287C0}"/>
              </a:ext>
            </a:extLst>
          </p:cNvPr>
          <p:cNvSpPr txBox="1"/>
          <p:nvPr/>
        </p:nvSpPr>
        <p:spPr>
          <a:xfrm>
            <a:off x="2159000" y="38354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A0E27"/>
                </a:solidFill>
                <a:latin typeface="Century Gothic"/>
              </a:rPr>
              <a:t>Any record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886F2D-DE2C-D947-ADE3-B54E15E5BDD6}"/>
              </a:ext>
            </a:extLst>
          </p:cNvPr>
          <p:cNvSpPr txBox="1"/>
          <p:nvPr/>
        </p:nvSpPr>
        <p:spPr>
          <a:xfrm>
            <a:off x="4064000" y="38354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B82F6"/>
                </a:solidFill>
                <a:latin typeface="Century Gothic"/>
              </a:rPr>
              <a:t>22.5%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9B1E39-18D5-2C44-AAAE-05FA1D1E6EDA}"/>
              </a:ext>
            </a:extLst>
          </p:cNvPr>
          <p:cNvSpPr txBox="1"/>
          <p:nvPr/>
        </p:nvSpPr>
        <p:spPr>
          <a:xfrm>
            <a:off x="5842000" y="3835400"/>
            <a:ext cx="5943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Century Gothic"/>
              </a:rPr>
              <a:t>Prior bankruptcy = inability to repay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A76D36-DDF9-8D43-85F4-F00AB2DEE860}"/>
              </a:ext>
            </a:extLst>
          </p:cNvPr>
          <p:cNvSpPr/>
          <p:nvPr/>
        </p:nvSpPr>
        <p:spPr>
          <a:xfrm>
            <a:off x="279400" y="4495800"/>
            <a:ext cx="11607800" cy="685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8FF2E6-B339-2741-9DE3-BE1758FBAE93}"/>
              </a:ext>
            </a:extLst>
          </p:cNvPr>
          <p:cNvSpPr/>
          <p:nvPr/>
        </p:nvSpPr>
        <p:spPr>
          <a:xfrm>
            <a:off x="279400" y="5168900"/>
            <a:ext cx="116078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5C90A5-FA2F-094B-AF93-B2B53817F1C1}"/>
              </a:ext>
            </a:extLst>
          </p:cNvPr>
          <p:cNvSpPr txBox="1"/>
          <p:nvPr/>
        </p:nvSpPr>
        <p:spPr>
          <a:xfrm>
            <a:off x="381000" y="45212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A0E27"/>
                </a:solidFill>
                <a:latin typeface="Century Gothic"/>
              </a:rPr>
              <a:t>Credit Inquiries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3DCFC8-6B06-9347-8485-D35420ACBBFB}"/>
              </a:ext>
            </a:extLst>
          </p:cNvPr>
          <p:cNvSpPr txBox="1"/>
          <p:nvPr/>
        </p:nvSpPr>
        <p:spPr>
          <a:xfrm>
            <a:off x="2159000" y="45212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A0E27"/>
                </a:solidFill>
                <a:latin typeface="Century Gothic"/>
              </a:rPr>
              <a:t>≥ 4 in last 6 mo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31F75F-6516-9C4F-99FF-D467528A794C}"/>
              </a:ext>
            </a:extLst>
          </p:cNvPr>
          <p:cNvSpPr txBox="1"/>
          <p:nvPr/>
        </p:nvSpPr>
        <p:spPr>
          <a:xfrm>
            <a:off x="4064000" y="45212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B82F6"/>
                </a:solidFill>
                <a:latin typeface="Century Gothic"/>
              </a:rPr>
              <a:t>~27%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435802-CCAF-484D-BB88-55BB9E910BC9}"/>
              </a:ext>
            </a:extLst>
          </p:cNvPr>
          <p:cNvSpPr txBox="1"/>
          <p:nvPr/>
        </p:nvSpPr>
        <p:spPr>
          <a:xfrm>
            <a:off x="5842000" y="4521200"/>
            <a:ext cx="5943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Century Gothic"/>
              </a:rPr>
              <a:t>Rapid credit-seeking = desperation signal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FC7D84-A0EC-2D40-93E7-CB89555C3C0C}"/>
              </a:ext>
            </a:extLst>
          </p:cNvPr>
          <p:cNvSpPr/>
          <p:nvPr/>
        </p:nvSpPr>
        <p:spPr>
          <a:xfrm>
            <a:off x="279400" y="5181600"/>
            <a:ext cx="11607800" cy="685800"/>
          </a:xfrm>
          <a:prstGeom prst="rect">
            <a:avLst/>
          </a:prstGeom>
          <a:solidFill>
            <a:srgbClr val="F0F7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653181-F731-D543-91F5-4E1206920F15}"/>
              </a:ext>
            </a:extLst>
          </p:cNvPr>
          <p:cNvSpPr/>
          <p:nvPr/>
        </p:nvSpPr>
        <p:spPr>
          <a:xfrm>
            <a:off x="279400" y="5854700"/>
            <a:ext cx="11607800" cy="127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92D8FE-D0D0-104A-AFEF-E51FED9C9AC5}"/>
              </a:ext>
            </a:extLst>
          </p:cNvPr>
          <p:cNvSpPr txBox="1"/>
          <p:nvPr/>
        </p:nvSpPr>
        <p:spPr>
          <a:xfrm>
            <a:off x="381000" y="52070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A0E27"/>
                </a:solidFill>
                <a:latin typeface="Century Gothic"/>
              </a:rPr>
              <a:t>DTI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3060E1-A404-344D-94BD-229D17CC61CB}"/>
              </a:ext>
            </a:extLst>
          </p:cNvPr>
          <p:cNvSpPr txBox="1"/>
          <p:nvPr/>
        </p:nvSpPr>
        <p:spPr>
          <a:xfrm>
            <a:off x="2159000" y="5207000"/>
            <a:ext cx="170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A0E27"/>
                </a:solidFill>
                <a:latin typeface="Century Gothic"/>
              </a:rPr>
              <a:t>&gt; 35%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0055BC-5261-034F-B027-0DEC497F69F0}"/>
              </a:ext>
            </a:extLst>
          </p:cNvPr>
          <p:cNvSpPr txBox="1"/>
          <p:nvPr/>
        </p:nvSpPr>
        <p:spPr>
          <a:xfrm>
            <a:off x="4064000" y="5207000"/>
            <a:ext cx="1574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3B82F6"/>
                </a:solidFill>
                <a:latin typeface="Century Gothic"/>
              </a:rPr>
              <a:t>~29%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649A75-10BB-D442-8F0E-5F614C46AD47}"/>
              </a:ext>
            </a:extLst>
          </p:cNvPr>
          <p:cNvSpPr txBox="1"/>
          <p:nvPr/>
        </p:nvSpPr>
        <p:spPr>
          <a:xfrm>
            <a:off x="5842000" y="5207000"/>
            <a:ext cx="5943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64748B"/>
                </a:solidFill>
                <a:latin typeface="Century Gothic"/>
              </a:rPr>
              <a:t>Debt burden exceeds safe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A0E27"/>
                </a:solidFill>
                <a:latin typeface="Century Gothic"/>
              </a:rPr>
              <a:t>Recommended Ruleset: FICO &lt; 680  OR  Grade E/F/G  OR  Revol Util &gt; 80%</a:t>
            </a:r>
          </a:p>
        </p:txBody>
      </p:sp>
      <p:pic>
        <p:nvPicPr>
          <p:cNvPr id="4" name="Picture 3" descr="tradeoff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97280"/>
            <a:ext cx="7132320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234440"/>
            <a:ext cx="43891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2344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</a:rPr>
              <a:t>  Recommended Ruleset (R4)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Volume Declined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>
                <a:solidFill>
                  <a:srgbClr val="3B82F6"/>
                </a:solidFill>
                <a:latin typeface="Century Gothic"/>
              </a:rPr>
              <a:t>43.3%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244144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New Bad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44144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>
                <a:solidFill>
                  <a:srgbClr val="3B82F6"/>
                </a:solidFill>
                <a:latin typeface="Century Gothic"/>
              </a:rPr>
              <a:t>15.5%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88919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300837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Bad Rate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00837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>
                <a:solidFill>
                  <a:srgbClr val="3B82F6"/>
                </a:solidFill>
                <a:latin typeface="Century Gothic"/>
              </a:rPr>
              <a:t>−20.5%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55847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357530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</a:rPr>
              <a:t>Good Loans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7530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>
                <a:solidFill>
                  <a:srgbClr val="3B82F6"/>
                </a:solidFill>
                <a:latin typeface="Century Gothic"/>
              </a:rPr>
              <a:t>40.5%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22775"/>
            <a:ext cx="116128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98079" y="4206240"/>
            <a:ext cx="4389120" cy="731520"/>
          </a:xfrm>
          <a:prstGeom prst="rect">
            <a:avLst/>
          </a:prstGeom>
          <a:solidFill>
            <a:srgbClr val="EFF6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4251960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A0E27"/>
                </a:solidFill>
                <a:latin typeface="Century Gothic"/>
              </a:rPr>
              <a:t>"Elbow" of the trade-off curve — meaningful risk
reduction without catastrophic volume loss.</a:t>
            </a:r>
          </a:p>
        </p:txBody>
      </p:sp>
      <p:pic>
        <p:nvPicPr>
          <p:cNvPr id="21" name="Picture 20" descr="rulese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5074920"/>
            <a:ext cx="4389120" cy="16002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E6964CB-8D2C-5F4E-9B4B-C69F6A21EA52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</a:rP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48640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</a:rPr>
              <a:t>  ✓  Implement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Decline if FICO &lt; 680
  → strongest single predictor; 2× baseline bad rate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Decline if Loan Grade E, F, or G
  → Lending Club's own risk model endorses these thresholds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Decline if Revolving Utilization &gt; 80%
  → captures financial stress independent of credit score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Add Bankruptcy as a hard cutoff (any record)
  → categorical signal; no exceptions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43000"/>
            <a:ext cx="5486400" cy="475488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</a:rPr>
              <a:t>  →  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Build a logistic regression scorecard
  → replace hard cutoffs with a continuous risk score; tune threshold at any desired approval rate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Vintage analysis
  → calibrate rules on recent cohorts (2017–2019) to avoid over-weighting the 2008 crisis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Purpose-specific policies
  → small business loans (26% bad rate) may need a separate, stricter policy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</a:rPr>
              <a:t>A/B test the rollout
  → measure real approval rate impact before full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entury Gothic"/>
              </a:rPr>
              <a:t>All rules use only origination-time data  ·  No post-loan information used  ·  Analysis based on 1,860,331 Lending Club loans 2007–2020 Q3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B630B3-469E-E743-A570-593E44317648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3E18D5-D803-124F-B7AE-49A56415D717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534</Words>
  <Application>Microsoft Macintosh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Anqi Chen</cp:lastModifiedBy>
  <cp:revision>12</cp:revision>
  <dcterms:created xsi:type="dcterms:W3CDTF">2013-01-27T09:14:16Z</dcterms:created>
  <dcterms:modified xsi:type="dcterms:W3CDTF">2026-03-05T22:10:57Z</dcterms:modified>
  <cp:category/>
</cp:coreProperties>
</file>